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71" r:id="rId4"/>
  </p:sldMasterIdLst>
  <p:notesMasterIdLst>
    <p:notesMasterId r:id="rId7"/>
  </p:notesMasterIdLst>
  <p:handoutMasterIdLst>
    <p:handoutMasterId r:id="rId8"/>
  </p:handoutMasterIdLst>
  <p:sldIdLst>
    <p:sldId id="256" r:id="rId5"/>
    <p:sldId id="291" r:id="rId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Montserrat ExtraBold" panose="020F0502020204030204" pitchFamily="2" charset="0"/>
      <p:bold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7">
          <p15:clr>
            <a:srgbClr val="A4A3A4"/>
          </p15:clr>
        </p15:guide>
        <p15:guide id="2" pos="5558">
          <p15:clr>
            <a:srgbClr val="A4A3A4"/>
          </p15:clr>
        </p15:guide>
        <p15:guide id="3" pos="1304">
          <p15:clr>
            <a:srgbClr val="A4A3A4"/>
          </p15:clr>
        </p15:guide>
        <p15:guide id="4" orient="horz" pos="1620">
          <p15:clr>
            <a:srgbClr val="A4A3A4"/>
          </p15:clr>
        </p15:guide>
        <p15:guide id="5" orient="horz" pos="2623">
          <p15:clr>
            <a:srgbClr val="A4A3A4"/>
          </p15:clr>
        </p15:guide>
        <p15:guide id="6" pos="4320">
          <p15:clr>
            <a:srgbClr val="A4A3A4"/>
          </p15:clr>
        </p15:guide>
        <p15:guide id="7" pos="3118">
          <p15:clr>
            <a:srgbClr val="A4A3A4"/>
          </p15:clr>
        </p15:guide>
        <p15:guide id="8" pos="2976">
          <p15:clr>
            <a:srgbClr val="A4A3A4"/>
          </p15:clr>
        </p15:guide>
        <p15:guide id="9" orient="horz" pos="590">
          <p15:clr>
            <a:srgbClr val="A4A3A4"/>
          </p15:clr>
        </p15:guide>
        <p15:guide id="10" pos="2268">
          <p15:clr>
            <a:srgbClr val="A4A3A4"/>
          </p15:clr>
        </p15:guide>
        <p15:guide id="11" pos="3902">
          <p15:clr>
            <a:srgbClr val="A4A3A4"/>
          </p15:clr>
        </p15:guide>
        <p15:guide id="12" orient="horz" pos="10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ulo Marcio de Oliveira" initials="Pd" lastIdx="1" clrIdx="0">
    <p:extLst>
      <p:ext uri="{19B8F6BF-5375-455C-9EA6-DF929625EA0E}">
        <p15:presenceInfo xmlns:p15="http://schemas.microsoft.com/office/powerpoint/2012/main" userId="S::paulom@ce.senac.br::ffe71d9b-6052-47a7-b869-873b9d19741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85F6"/>
    <a:srgbClr val="667286"/>
    <a:srgbClr val="FFE89F"/>
    <a:srgbClr val="FFFF99"/>
    <a:srgbClr val="FFE07D"/>
    <a:srgbClr val="FA7406"/>
    <a:srgbClr val="CBD5E1"/>
    <a:srgbClr val="DBEAFE"/>
    <a:srgbClr val="808C9E"/>
    <a:srgbClr val="C8D3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1787E8-E11C-8564-E166-A2A1DA263E0A}" v="14" dt="2023-02-09T18:58:12.194"/>
    <p1510:client id="{4E960C2B-B8E1-F07A-2087-1B844E7A6835}" v="2232" dt="2023-02-06T20:47:51.955"/>
    <p1510:client id="{7BF28910-1B17-17BD-EA03-F674E6341C33}" v="544" dt="2023-02-08T17:05:49.906"/>
    <p1510:client id="{B135BB96-E66E-81C8-D338-D73CC86DDFC5}" v="1897" dt="2022-10-11T15:33:49.896"/>
  </p1510:revLst>
</p1510:revInfo>
</file>

<file path=ppt/tableStyles.xml><?xml version="1.0" encoding="utf-8"?>
<a:tblStyleLst xmlns:a="http://schemas.openxmlformats.org/drawingml/2006/main" def="{FF1A0088-3FF0-4591-AE8C-B39587EE2FD8}">
  <a:tblStyle styleId="{FF1A0088-3FF0-4591-AE8C-B39587EE2F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53"/>
  </p:normalViewPr>
  <p:slideViewPr>
    <p:cSldViewPr snapToGrid="0">
      <p:cViewPr varScale="1">
        <p:scale>
          <a:sx n="142" d="100"/>
          <a:sy n="142" d="100"/>
        </p:scale>
        <p:origin x="720" y="114"/>
      </p:cViewPr>
      <p:guideLst>
        <p:guide orient="horz" pos="337"/>
        <p:guide pos="5558"/>
        <p:guide pos="1304"/>
        <p:guide orient="horz" pos="1620"/>
        <p:guide orient="horz" pos="2623"/>
        <p:guide pos="4320"/>
        <p:guide pos="3118"/>
        <p:guide pos="2976"/>
        <p:guide orient="horz" pos="590"/>
        <p:guide pos="2268"/>
        <p:guide pos="3902"/>
        <p:guide orient="horz" pos="105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400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5B654EE-46E2-0F4F-A427-90D64B9EDE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03F607F-B941-504A-93E2-B236C592C7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AE9AD-0277-1C48-A4A6-9639BCA59213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ECF70CC-E53D-CB46-9D20-16363D6546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8247280-1666-A146-9E9E-6861B1758A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7252A-A6E1-544A-A976-86DDA00666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8129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de7457949_0_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de7457949_0_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3212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16500" y="1001050"/>
            <a:ext cx="6809100" cy="31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4600"/>
              <a:buNone/>
              <a:defRPr sz="4600">
                <a:solidFill>
                  <a:srgbClr val="25252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 rot="-5400000">
            <a:off x="-1772935" y="1844264"/>
            <a:ext cx="4950600" cy="5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6"/>
          <p:cNvPicPr preferRelativeResize="0"/>
          <p:nvPr/>
        </p:nvPicPr>
        <p:blipFill rotWithShape="1">
          <a:blip r:embed="rId3">
            <a:alphaModFix/>
          </a:blip>
          <a:srcRect l="13106" t="15681" r="3518" b="17473"/>
          <a:stretch/>
        </p:blipFill>
        <p:spPr>
          <a:xfrm>
            <a:off x="230886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6000" dirty="0">
                <a:solidFill>
                  <a:srgbClr val="174584"/>
                </a:solidFill>
              </a:rPr>
              <a:t>Fluxograma</a:t>
            </a:r>
            <a:br>
              <a:rPr lang="pt-BR" sz="6000" dirty="0">
                <a:solidFill>
                  <a:srgbClr val="174584"/>
                </a:solidFill>
              </a:rPr>
            </a:br>
            <a:r>
              <a:rPr lang="pt-BR" sz="6000" dirty="0">
                <a:solidFill>
                  <a:srgbClr val="174584"/>
                </a:solidFill>
              </a:rPr>
              <a:t>de Eventos</a:t>
            </a:r>
            <a:endParaRPr sz="1050" dirty="0">
              <a:solidFill>
                <a:srgbClr val="174584"/>
              </a:solidFill>
            </a:endParaRPr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839B6F31-A889-BF4D-B864-4B8705EFC9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8377" y="4333164"/>
            <a:ext cx="1571756" cy="50924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C0A6620-8F02-EA2E-DABD-03BF80BC3C52}"/>
              </a:ext>
            </a:extLst>
          </p:cNvPr>
          <p:cNvSpPr/>
          <p:nvPr/>
        </p:nvSpPr>
        <p:spPr>
          <a:xfrm>
            <a:off x="1083310" y="543446"/>
            <a:ext cx="100174" cy="4600054"/>
          </a:xfrm>
          <a:prstGeom prst="rect">
            <a:avLst/>
          </a:prstGeom>
          <a:solidFill>
            <a:srgbClr val="1654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Retângulo: Cantos Arredondados 744">
            <a:extLst>
              <a:ext uri="{FF2B5EF4-FFF2-40B4-BE49-F238E27FC236}">
                <a16:creationId xmlns:a16="http://schemas.microsoft.com/office/drawing/2014/main" id="{FBD34905-21A1-7AFE-78A1-3F66645512FB}"/>
              </a:ext>
            </a:extLst>
          </p:cNvPr>
          <p:cNvSpPr/>
          <p:nvPr/>
        </p:nvSpPr>
        <p:spPr>
          <a:xfrm>
            <a:off x="2286211" y="4443436"/>
            <a:ext cx="5752879" cy="63521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ítulo 1"/>
          <p:cNvSpPr txBox="1">
            <a:spLocks/>
          </p:cNvSpPr>
          <p:nvPr/>
        </p:nvSpPr>
        <p:spPr>
          <a:xfrm rot="16200000">
            <a:off x="-1133944" y="2382288"/>
            <a:ext cx="3449546" cy="378925"/>
          </a:xfrm>
        </p:spPr>
        <p:txBody>
          <a:bodyPr lIns="0" tIns="0" rIns="0" bIns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942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2"/>
                </a:solidFill>
                <a:latin typeface="Arial" charset="0"/>
              </a:defRPr>
            </a:lvl5pPr>
            <a:lvl6pPr marL="391500" algn="ctr" rtl="0" fontAlgn="base">
              <a:spcBef>
                <a:spcPct val="0"/>
              </a:spcBef>
              <a:spcAft>
                <a:spcPct val="0"/>
              </a:spcAft>
              <a:defRPr sz="3768">
                <a:solidFill>
                  <a:schemeClr val="tx2"/>
                </a:solidFill>
                <a:latin typeface="Arial" charset="0"/>
              </a:defRPr>
            </a:lvl6pPr>
            <a:lvl7pPr marL="783001" algn="ctr" rtl="0" fontAlgn="base">
              <a:spcBef>
                <a:spcPct val="0"/>
              </a:spcBef>
              <a:spcAft>
                <a:spcPct val="0"/>
              </a:spcAft>
              <a:defRPr sz="3768">
                <a:solidFill>
                  <a:schemeClr val="tx2"/>
                </a:solidFill>
                <a:latin typeface="Arial" charset="0"/>
              </a:defRPr>
            </a:lvl7pPr>
            <a:lvl8pPr marL="1174501" algn="ctr" rtl="0" fontAlgn="base">
              <a:spcBef>
                <a:spcPct val="0"/>
              </a:spcBef>
              <a:spcAft>
                <a:spcPct val="0"/>
              </a:spcAft>
              <a:defRPr sz="3768">
                <a:solidFill>
                  <a:schemeClr val="tx2"/>
                </a:solidFill>
                <a:latin typeface="Arial" charset="0"/>
              </a:defRPr>
            </a:lvl8pPr>
            <a:lvl9pPr marL="1566001" algn="ctr" rtl="0" fontAlgn="base">
              <a:spcBef>
                <a:spcPct val="0"/>
              </a:spcBef>
              <a:spcAft>
                <a:spcPct val="0"/>
              </a:spcAft>
              <a:defRPr sz="3768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pt-BR" sz="2800" dirty="0">
                <a:solidFill>
                  <a:srgbClr val="1654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Fluxograma de Eventos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C8DDA4C-A446-9785-C947-920093FA1F06}"/>
              </a:ext>
            </a:extLst>
          </p:cNvPr>
          <p:cNvSpPr/>
          <p:nvPr/>
        </p:nvSpPr>
        <p:spPr>
          <a:xfrm>
            <a:off x="2267426" y="306702"/>
            <a:ext cx="1455801" cy="246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b="1" dirty="0">
                <a:solidFill>
                  <a:srgbClr val="0D182A"/>
                </a:solidFill>
              </a:rPr>
              <a:t>Produtora de Eventos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2B08BDE6-4522-AEA2-EE40-CE6B0C0DBF8C}"/>
              </a:ext>
            </a:extLst>
          </p:cNvPr>
          <p:cNvSpPr/>
          <p:nvPr/>
        </p:nvSpPr>
        <p:spPr>
          <a:xfrm>
            <a:off x="6515359" y="357060"/>
            <a:ext cx="1033753" cy="222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b="1" dirty="0">
                <a:solidFill>
                  <a:srgbClr val="0D182A"/>
                </a:solidFill>
              </a:rPr>
              <a:t>GNE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1BD94C6-53E8-61BF-20E7-F5A245FFFF78}"/>
              </a:ext>
            </a:extLst>
          </p:cNvPr>
          <p:cNvSpPr/>
          <p:nvPr/>
        </p:nvSpPr>
        <p:spPr>
          <a:xfrm>
            <a:off x="1324182" y="781691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1543404-6009-A2CA-0E21-1ED5709DED3C}"/>
              </a:ext>
            </a:extLst>
          </p:cNvPr>
          <p:cNvSpPr/>
          <p:nvPr/>
        </p:nvSpPr>
        <p:spPr>
          <a:xfrm>
            <a:off x="1392977" y="858658"/>
            <a:ext cx="258029" cy="24135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75B4BB9-8948-AD11-0373-5394369793E9}"/>
              </a:ext>
            </a:extLst>
          </p:cNvPr>
          <p:cNvSpPr txBox="1"/>
          <p:nvPr/>
        </p:nvSpPr>
        <p:spPr>
          <a:xfrm>
            <a:off x="1604573" y="862087"/>
            <a:ext cx="14135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Recebe Demandas</a:t>
            </a:r>
          </a:p>
          <a:p>
            <a:r>
              <a:rPr lang="pt-BR" sz="400" dirty="0">
                <a:solidFill>
                  <a:srgbClr val="667286"/>
                </a:solidFill>
              </a:rPr>
              <a:t>Via </a:t>
            </a:r>
            <a:r>
              <a:rPr lang="pt-BR" sz="400" b="1" dirty="0">
                <a:solidFill>
                  <a:srgbClr val="667286"/>
                </a:solidFill>
              </a:rPr>
              <a:t>Centro de custo </a:t>
            </a:r>
            <a:r>
              <a:rPr lang="pt-BR" sz="400" dirty="0">
                <a:solidFill>
                  <a:srgbClr val="667286"/>
                </a:solidFill>
              </a:rPr>
              <a:t>por SEND/E-MAIL/WHATSAPP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B49F4C6-5308-EC5D-5D98-2A0BE6937558}"/>
              </a:ext>
            </a:extLst>
          </p:cNvPr>
          <p:cNvSpPr txBox="1"/>
          <p:nvPr/>
        </p:nvSpPr>
        <p:spPr>
          <a:xfrm>
            <a:off x="1342914" y="822471"/>
            <a:ext cx="3560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3585F6"/>
                </a:solidFill>
                <a:effectLst/>
                <a:latin typeface="consolas" panose="020B0609020204030204" pitchFamily="49" charset="0"/>
              </a:rPr>
              <a:t>✉</a:t>
            </a:r>
            <a:endParaRPr lang="pt-BR" dirty="0">
              <a:solidFill>
                <a:srgbClr val="3585F6"/>
              </a:solidFill>
            </a:endParaRPr>
          </a:p>
        </p:txBody>
      </p:sp>
      <p:sp>
        <p:nvSpPr>
          <p:cNvPr id="674" name="Retângulo: Cantos Arredondados 673">
            <a:extLst>
              <a:ext uri="{FF2B5EF4-FFF2-40B4-BE49-F238E27FC236}">
                <a16:creationId xmlns:a16="http://schemas.microsoft.com/office/drawing/2014/main" id="{EC5B45D6-326C-31B0-912F-1B9B61EFC9A6}"/>
              </a:ext>
            </a:extLst>
          </p:cNvPr>
          <p:cNvSpPr/>
          <p:nvPr/>
        </p:nvSpPr>
        <p:spPr>
          <a:xfrm>
            <a:off x="1320763" y="1397698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5" name="Elipse 674">
            <a:extLst>
              <a:ext uri="{FF2B5EF4-FFF2-40B4-BE49-F238E27FC236}">
                <a16:creationId xmlns:a16="http://schemas.microsoft.com/office/drawing/2014/main" id="{A95D7402-9DDC-4932-5CF8-860559A1ED20}"/>
              </a:ext>
            </a:extLst>
          </p:cNvPr>
          <p:cNvSpPr/>
          <p:nvPr/>
        </p:nvSpPr>
        <p:spPr>
          <a:xfrm>
            <a:off x="1389558" y="1474665"/>
            <a:ext cx="258029" cy="24135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6" name="CaixaDeTexto 675">
            <a:extLst>
              <a:ext uri="{FF2B5EF4-FFF2-40B4-BE49-F238E27FC236}">
                <a16:creationId xmlns:a16="http://schemas.microsoft.com/office/drawing/2014/main" id="{A82AD97C-10A7-1E54-F123-D4153B9F434B}"/>
              </a:ext>
            </a:extLst>
          </p:cNvPr>
          <p:cNvSpPr txBox="1"/>
          <p:nvPr/>
        </p:nvSpPr>
        <p:spPr>
          <a:xfrm>
            <a:off x="1601154" y="1446047"/>
            <a:ext cx="137474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Identifica o tipo de Proposta</a:t>
            </a:r>
          </a:p>
          <a:p>
            <a:r>
              <a:rPr lang="pt-BR" sz="400" dirty="0">
                <a:solidFill>
                  <a:srgbClr val="667286"/>
                </a:solidFill>
              </a:rPr>
              <a:t>Mistas (cessão não onerosa e pagas) ou Total (Centro de Custo)</a:t>
            </a:r>
          </a:p>
        </p:txBody>
      </p:sp>
      <p:sp>
        <p:nvSpPr>
          <p:cNvPr id="691" name="CaixaDeTexto 690">
            <a:extLst>
              <a:ext uri="{FF2B5EF4-FFF2-40B4-BE49-F238E27FC236}">
                <a16:creationId xmlns:a16="http://schemas.microsoft.com/office/drawing/2014/main" id="{FD23DEE2-0336-F059-81C7-839A6743A028}"/>
              </a:ext>
            </a:extLst>
          </p:cNvPr>
          <p:cNvSpPr txBox="1"/>
          <p:nvPr/>
        </p:nvSpPr>
        <p:spPr>
          <a:xfrm>
            <a:off x="1324182" y="1449234"/>
            <a:ext cx="4216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0" i="0" dirty="0">
                <a:solidFill>
                  <a:srgbClr val="E3E3E3"/>
                </a:solidFill>
                <a:effectLst/>
                <a:latin typeface="consolas" panose="020B0609020204030204" pitchFamily="49" charset="0"/>
              </a:rPr>
              <a:t>🔍</a:t>
            </a:r>
            <a:endParaRPr lang="pt-BR" sz="1200" dirty="0"/>
          </a:p>
        </p:txBody>
      </p:sp>
      <p:cxnSp>
        <p:nvCxnSpPr>
          <p:cNvPr id="693" name="Conector de Seta Reta 692">
            <a:extLst>
              <a:ext uri="{FF2B5EF4-FFF2-40B4-BE49-F238E27FC236}">
                <a16:creationId xmlns:a16="http://schemas.microsoft.com/office/drawing/2014/main" id="{2A4F58BB-55B2-2E91-46C9-2574581361D9}"/>
              </a:ext>
            </a:extLst>
          </p:cNvPr>
          <p:cNvCxnSpPr>
            <a:endCxn id="674" idx="0"/>
          </p:cNvCxnSpPr>
          <p:nvPr/>
        </p:nvCxnSpPr>
        <p:spPr>
          <a:xfrm>
            <a:off x="2187901" y="1171030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4" name="Retângulo: Cantos Arredondados 693">
            <a:extLst>
              <a:ext uri="{FF2B5EF4-FFF2-40B4-BE49-F238E27FC236}">
                <a16:creationId xmlns:a16="http://schemas.microsoft.com/office/drawing/2014/main" id="{9E7D03EF-381D-5C3B-5EFE-87B6ED1FF90D}"/>
              </a:ext>
            </a:extLst>
          </p:cNvPr>
          <p:cNvSpPr/>
          <p:nvPr/>
        </p:nvSpPr>
        <p:spPr>
          <a:xfrm>
            <a:off x="1324182" y="2013705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5" name="Elipse 694">
            <a:extLst>
              <a:ext uri="{FF2B5EF4-FFF2-40B4-BE49-F238E27FC236}">
                <a16:creationId xmlns:a16="http://schemas.microsoft.com/office/drawing/2014/main" id="{0319E57D-0591-7510-FA83-4FE2B181FABD}"/>
              </a:ext>
            </a:extLst>
          </p:cNvPr>
          <p:cNvSpPr/>
          <p:nvPr/>
        </p:nvSpPr>
        <p:spPr>
          <a:xfrm>
            <a:off x="1392977" y="2090672"/>
            <a:ext cx="258029" cy="24135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7" name="CaixaDeTexto 696">
            <a:extLst>
              <a:ext uri="{FF2B5EF4-FFF2-40B4-BE49-F238E27FC236}">
                <a16:creationId xmlns:a16="http://schemas.microsoft.com/office/drawing/2014/main" id="{AC988E3D-92CC-FA7E-7BFE-924FF4F1722F}"/>
              </a:ext>
            </a:extLst>
          </p:cNvPr>
          <p:cNvSpPr txBox="1"/>
          <p:nvPr/>
        </p:nvSpPr>
        <p:spPr>
          <a:xfrm>
            <a:off x="1604573" y="2094101"/>
            <a:ext cx="14135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Negociação de Alimentos &amp; Bebidas</a:t>
            </a:r>
          </a:p>
          <a:p>
            <a:r>
              <a:rPr lang="pt-BR" sz="400" dirty="0">
                <a:solidFill>
                  <a:srgbClr val="667286"/>
                </a:solidFill>
              </a:rPr>
              <a:t>Com a Empresa Escola</a:t>
            </a:r>
          </a:p>
        </p:txBody>
      </p:sp>
      <p:sp>
        <p:nvSpPr>
          <p:cNvPr id="698" name="CaixaDeTexto 697">
            <a:extLst>
              <a:ext uri="{FF2B5EF4-FFF2-40B4-BE49-F238E27FC236}">
                <a16:creationId xmlns:a16="http://schemas.microsoft.com/office/drawing/2014/main" id="{13E0F9C7-784D-E974-3FB6-448BBEB605BA}"/>
              </a:ext>
            </a:extLst>
          </p:cNvPr>
          <p:cNvSpPr txBox="1"/>
          <p:nvPr/>
        </p:nvSpPr>
        <p:spPr>
          <a:xfrm>
            <a:off x="1349264" y="2057660"/>
            <a:ext cx="356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3585F6"/>
                </a:solidFill>
              </a:rPr>
              <a:t>🖇</a:t>
            </a:r>
          </a:p>
        </p:txBody>
      </p:sp>
      <p:sp>
        <p:nvSpPr>
          <p:cNvPr id="699" name="Retângulo: Cantos Arredondados 698">
            <a:extLst>
              <a:ext uri="{FF2B5EF4-FFF2-40B4-BE49-F238E27FC236}">
                <a16:creationId xmlns:a16="http://schemas.microsoft.com/office/drawing/2014/main" id="{41891C7D-6CC4-91C1-B3BE-36CD1203C017}"/>
              </a:ext>
            </a:extLst>
          </p:cNvPr>
          <p:cNvSpPr/>
          <p:nvPr/>
        </p:nvSpPr>
        <p:spPr>
          <a:xfrm>
            <a:off x="1320763" y="2629712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0" name="Elipse 699">
            <a:extLst>
              <a:ext uri="{FF2B5EF4-FFF2-40B4-BE49-F238E27FC236}">
                <a16:creationId xmlns:a16="http://schemas.microsoft.com/office/drawing/2014/main" id="{C17D77D9-A865-9FD3-3B39-451EFFEF8DDF}"/>
              </a:ext>
            </a:extLst>
          </p:cNvPr>
          <p:cNvSpPr/>
          <p:nvPr/>
        </p:nvSpPr>
        <p:spPr>
          <a:xfrm>
            <a:off x="1389558" y="2706679"/>
            <a:ext cx="258029" cy="24135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1" name="CaixaDeTexto 700">
            <a:extLst>
              <a:ext uri="{FF2B5EF4-FFF2-40B4-BE49-F238E27FC236}">
                <a16:creationId xmlns:a16="http://schemas.microsoft.com/office/drawing/2014/main" id="{A60435B4-DCF9-8BE2-38AB-8F71E404A1E6}"/>
              </a:ext>
            </a:extLst>
          </p:cNvPr>
          <p:cNvSpPr txBox="1"/>
          <p:nvPr/>
        </p:nvSpPr>
        <p:spPr>
          <a:xfrm>
            <a:off x="1601154" y="2739743"/>
            <a:ext cx="13747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Elabora Proposta</a:t>
            </a:r>
          </a:p>
        </p:txBody>
      </p:sp>
      <p:sp>
        <p:nvSpPr>
          <p:cNvPr id="702" name="CaixaDeTexto 701">
            <a:extLst>
              <a:ext uri="{FF2B5EF4-FFF2-40B4-BE49-F238E27FC236}">
                <a16:creationId xmlns:a16="http://schemas.microsoft.com/office/drawing/2014/main" id="{B76CF35B-8577-2572-592B-E69BBBA38F16}"/>
              </a:ext>
            </a:extLst>
          </p:cNvPr>
          <p:cNvSpPr txBox="1"/>
          <p:nvPr/>
        </p:nvSpPr>
        <p:spPr>
          <a:xfrm>
            <a:off x="1324182" y="2681248"/>
            <a:ext cx="4216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/>
              <a:t>📝</a:t>
            </a:r>
            <a:endParaRPr lang="pt-BR" sz="1200" dirty="0"/>
          </a:p>
        </p:txBody>
      </p:sp>
      <p:cxnSp>
        <p:nvCxnSpPr>
          <p:cNvPr id="703" name="Conector de Seta Reta 702">
            <a:extLst>
              <a:ext uri="{FF2B5EF4-FFF2-40B4-BE49-F238E27FC236}">
                <a16:creationId xmlns:a16="http://schemas.microsoft.com/office/drawing/2014/main" id="{0FEFE0AA-A8E3-52CE-75C7-CCE3AE0E74B2}"/>
              </a:ext>
            </a:extLst>
          </p:cNvPr>
          <p:cNvCxnSpPr/>
          <p:nvPr/>
        </p:nvCxnSpPr>
        <p:spPr>
          <a:xfrm>
            <a:off x="2187901" y="1787037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BB21DDD5-49EC-514C-2C09-F1087E8F758F}"/>
              </a:ext>
            </a:extLst>
          </p:cNvPr>
          <p:cNvCxnSpPr/>
          <p:nvPr/>
        </p:nvCxnSpPr>
        <p:spPr>
          <a:xfrm>
            <a:off x="2187901" y="2403044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34EFC408-8F6A-D7CE-083F-E8378512DDCF}"/>
              </a:ext>
            </a:extLst>
          </p:cNvPr>
          <p:cNvSpPr/>
          <p:nvPr/>
        </p:nvSpPr>
        <p:spPr>
          <a:xfrm>
            <a:off x="1316172" y="3245719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44FEA705-96BE-62D2-DEC5-B14BE2574F4F}"/>
              </a:ext>
            </a:extLst>
          </p:cNvPr>
          <p:cNvSpPr/>
          <p:nvPr/>
        </p:nvSpPr>
        <p:spPr>
          <a:xfrm>
            <a:off x="1384967" y="3322686"/>
            <a:ext cx="258029" cy="24135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FEBA003-CE41-999C-7B9A-5DC5AA26B60C}"/>
              </a:ext>
            </a:extLst>
          </p:cNvPr>
          <p:cNvSpPr txBox="1"/>
          <p:nvPr/>
        </p:nvSpPr>
        <p:spPr>
          <a:xfrm>
            <a:off x="1595606" y="3352140"/>
            <a:ext cx="141354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Envia para Aprovação e Assinatura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7A784FD-F6F2-21AC-AF5A-10AE19713DC3}"/>
              </a:ext>
            </a:extLst>
          </p:cNvPr>
          <p:cNvSpPr txBox="1"/>
          <p:nvPr/>
        </p:nvSpPr>
        <p:spPr>
          <a:xfrm>
            <a:off x="1363479" y="3296024"/>
            <a:ext cx="356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3585F6"/>
                </a:solidFill>
              </a:rPr>
              <a:t>✓</a:t>
            </a:r>
          </a:p>
        </p:txBody>
      </p: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66EA6938-DAE3-5AE8-4D4F-DA0CB9CF173D}"/>
              </a:ext>
            </a:extLst>
          </p:cNvPr>
          <p:cNvCxnSpPr/>
          <p:nvPr/>
        </p:nvCxnSpPr>
        <p:spPr>
          <a:xfrm>
            <a:off x="2187901" y="3019051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B0111349-4725-277C-3C38-A8682BDC4C68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3050448" y="3440389"/>
            <a:ext cx="105283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BA8A4F1C-D753-F06E-AE41-6A8EB885431C}"/>
              </a:ext>
            </a:extLst>
          </p:cNvPr>
          <p:cNvCxnSpPr>
            <a:cxnSpLocks/>
          </p:cNvCxnSpPr>
          <p:nvPr/>
        </p:nvCxnSpPr>
        <p:spPr>
          <a:xfrm>
            <a:off x="3153350" y="983383"/>
            <a:ext cx="113620" cy="0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28EE9E4B-BC12-652F-472C-1E0760B7E7C0}"/>
              </a:ext>
            </a:extLst>
          </p:cNvPr>
          <p:cNvCxnSpPr>
            <a:cxnSpLocks/>
          </p:cNvCxnSpPr>
          <p:nvPr/>
        </p:nvCxnSpPr>
        <p:spPr>
          <a:xfrm>
            <a:off x="3155731" y="980805"/>
            <a:ext cx="0" cy="2462556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D5525011-E0E5-6751-1142-E345C0828681}"/>
              </a:ext>
            </a:extLst>
          </p:cNvPr>
          <p:cNvSpPr/>
          <p:nvPr/>
        </p:nvSpPr>
        <p:spPr>
          <a:xfrm>
            <a:off x="3273033" y="776929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Elipse 70">
            <a:extLst>
              <a:ext uri="{FF2B5EF4-FFF2-40B4-BE49-F238E27FC236}">
                <a16:creationId xmlns:a16="http://schemas.microsoft.com/office/drawing/2014/main" id="{64AF4DE2-FD35-98C3-D48A-350630D7B0AD}"/>
              </a:ext>
            </a:extLst>
          </p:cNvPr>
          <p:cNvSpPr/>
          <p:nvPr/>
        </p:nvSpPr>
        <p:spPr>
          <a:xfrm>
            <a:off x="3341828" y="853896"/>
            <a:ext cx="258029" cy="24135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B797D39C-D5C2-916A-2A17-3301DB567521}"/>
              </a:ext>
            </a:extLst>
          </p:cNvPr>
          <p:cNvSpPr txBox="1"/>
          <p:nvPr/>
        </p:nvSpPr>
        <p:spPr>
          <a:xfrm>
            <a:off x="3553424" y="857325"/>
            <a:ext cx="14135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Gera Ordem de Serviço</a:t>
            </a:r>
          </a:p>
          <a:p>
            <a:r>
              <a:rPr lang="pt-BR" sz="400" dirty="0">
                <a:solidFill>
                  <a:srgbClr val="667286"/>
                </a:solidFill>
              </a:rPr>
              <a:t>E envia por e-mail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BCED70FE-7510-5509-5DD8-43782334D372}"/>
              </a:ext>
            </a:extLst>
          </p:cNvPr>
          <p:cNvSpPr txBox="1"/>
          <p:nvPr/>
        </p:nvSpPr>
        <p:spPr>
          <a:xfrm>
            <a:off x="3277476" y="817709"/>
            <a:ext cx="356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📩</a:t>
            </a:r>
            <a:endParaRPr lang="pt-BR" sz="1200" dirty="0">
              <a:solidFill>
                <a:srgbClr val="3585F6"/>
              </a:solidFill>
            </a:endParaRP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84F8C1AD-3823-7D09-1338-F127B84DD79B}"/>
              </a:ext>
            </a:extLst>
          </p:cNvPr>
          <p:cNvSpPr/>
          <p:nvPr/>
        </p:nvSpPr>
        <p:spPr>
          <a:xfrm>
            <a:off x="3269614" y="1392936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EDA2F155-6ADD-CC23-3E32-543C37DA6BF7}"/>
              </a:ext>
            </a:extLst>
          </p:cNvPr>
          <p:cNvSpPr/>
          <p:nvPr/>
        </p:nvSpPr>
        <p:spPr>
          <a:xfrm>
            <a:off x="3338409" y="1469903"/>
            <a:ext cx="258029" cy="24135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A6D22839-700C-6108-7D00-54A025D972B5}"/>
              </a:ext>
            </a:extLst>
          </p:cNvPr>
          <p:cNvSpPr txBox="1"/>
          <p:nvPr/>
        </p:nvSpPr>
        <p:spPr>
          <a:xfrm>
            <a:off x="3550005" y="1441285"/>
            <a:ext cx="137474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Operacional</a:t>
            </a:r>
          </a:p>
          <a:p>
            <a:r>
              <a:rPr lang="pt-BR" sz="400" dirty="0">
                <a:solidFill>
                  <a:srgbClr val="667286"/>
                </a:solidFill>
              </a:rPr>
              <a:t>Prod. Eventos + TI Unidade</a:t>
            </a:r>
          </a:p>
          <a:p>
            <a:r>
              <a:rPr lang="pt-BR" sz="400" dirty="0">
                <a:solidFill>
                  <a:srgbClr val="667286"/>
                </a:solidFill>
              </a:rPr>
              <a:t>Organiza e Acompanha o Evento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5FA9C377-2799-BA05-CC01-DA3D7EE1C097}"/>
              </a:ext>
            </a:extLst>
          </p:cNvPr>
          <p:cNvSpPr txBox="1"/>
          <p:nvPr/>
        </p:nvSpPr>
        <p:spPr>
          <a:xfrm>
            <a:off x="3301554" y="1435421"/>
            <a:ext cx="4216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5"/>
                </a:solidFill>
              </a:rPr>
              <a:t>⚙</a:t>
            </a:r>
            <a:endParaRPr lang="pt-BR" sz="1200" dirty="0">
              <a:solidFill>
                <a:schemeClr val="accent5"/>
              </a:solidFill>
            </a:endParaRPr>
          </a:p>
        </p:txBody>
      </p:sp>
      <p:cxnSp>
        <p:nvCxnSpPr>
          <p:cNvPr id="78" name="Conector de Seta Reta 77">
            <a:extLst>
              <a:ext uri="{FF2B5EF4-FFF2-40B4-BE49-F238E27FC236}">
                <a16:creationId xmlns:a16="http://schemas.microsoft.com/office/drawing/2014/main" id="{3FA40F76-4469-FB73-2467-9971F8A0672B}"/>
              </a:ext>
            </a:extLst>
          </p:cNvPr>
          <p:cNvCxnSpPr>
            <a:endCxn id="74" idx="0"/>
          </p:cNvCxnSpPr>
          <p:nvPr/>
        </p:nvCxnSpPr>
        <p:spPr>
          <a:xfrm>
            <a:off x="4136752" y="1166268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A922B440-1CEC-21B6-8D62-9A06D35FC323}"/>
              </a:ext>
            </a:extLst>
          </p:cNvPr>
          <p:cNvSpPr/>
          <p:nvPr/>
        </p:nvSpPr>
        <p:spPr>
          <a:xfrm>
            <a:off x="3273033" y="2008943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43D77D2A-9CFA-6FFF-A49B-0329D623D479}"/>
              </a:ext>
            </a:extLst>
          </p:cNvPr>
          <p:cNvSpPr/>
          <p:nvPr/>
        </p:nvSpPr>
        <p:spPr>
          <a:xfrm>
            <a:off x="3341828" y="2085910"/>
            <a:ext cx="258029" cy="241351"/>
          </a:xfrm>
          <a:prstGeom prst="ellipse">
            <a:avLst/>
          </a:prstGeom>
          <a:solidFill>
            <a:srgbClr val="FFE8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F9D48DC8-3CE4-8141-6554-69BD35E27EDE}"/>
              </a:ext>
            </a:extLst>
          </p:cNvPr>
          <p:cNvSpPr txBox="1"/>
          <p:nvPr/>
        </p:nvSpPr>
        <p:spPr>
          <a:xfrm>
            <a:off x="3553424" y="2089339"/>
            <a:ext cx="14135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Solicita o Fechamento de Caixa</a:t>
            </a:r>
          </a:p>
          <a:p>
            <a:r>
              <a:rPr lang="pt-BR" sz="400" dirty="0">
                <a:solidFill>
                  <a:srgbClr val="667286"/>
                </a:solidFill>
              </a:rPr>
              <a:t>Por e-mail para anexo da </a:t>
            </a:r>
            <a:r>
              <a:rPr lang="pt-BR" sz="400" dirty="0" err="1">
                <a:solidFill>
                  <a:srgbClr val="667286"/>
                </a:solidFill>
              </a:rPr>
              <a:t>NFce</a:t>
            </a:r>
            <a:endParaRPr lang="pt-BR" sz="400" dirty="0">
              <a:solidFill>
                <a:srgbClr val="667286"/>
              </a:solidFill>
            </a:endParaRP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81006D23-816E-753B-FA62-66AA1EBA2F85}"/>
              </a:ext>
            </a:extLst>
          </p:cNvPr>
          <p:cNvSpPr txBox="1"/>
          <p:nvPr/>
        </p:nvSpPr>
        <p:spPr>
          <a:xfrm>
            <a:off x="3312330" y="2008943"/>
            <a:ext cx="3560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FA7406"/>
                </a:solidFill>
              </a:rPr>
              <a:t>🖩</a:t>
            </a:r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E0011D93-358B-DA3E-6D8B-65D138A4C980}"/>
              </a:ext>
            </a:extLst>
          </p:cNvPr>
          <p:cNvSpPr/>
          <p:nvPr/>
        </p:nvSpPr>
        <p:spPr>
          <a:xfrm>
            <a:off x="3269614" y="2624950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16530EF2-9686-FB5F-8222-E2E7C3BFFD0F}"/>
              </a:ext>
            </a:extLst>
          </p:cNvPr>
          <p:cNvSpPr/>
          <p:nvPr/>
        </p:nvSpPr>
        <p:spPr>
          <a:xfrm>
            <a:off x="3338409" y="2701917"/>
            <a:ext cx="258029" cy="241351"/>
          </a:xfrm>
          <a:prstGeom prst="ellipse">
            <a:avLst/>
          </a:prstGeom>
          <a:solidFill>
            <a:srgbClr val="FFE8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83FA6ADA-27FB-4F46-3B68-8BB0295E2A5A}"/>
              </a:ext>
            </a:extLst>
          </p:cNvPr>
          <p:cNvSpPr txBox="1"/>
          <p:nvPr/>
        </p:nvSpPr>
        <p:spPr>
          <a:xfrm>
            <a:off x="3550005" y="2701905"/>
            <a:ext cx="13747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Arquiva toda a Documentação</a:t>
            </a:r>
          </a:p>
          <a:p>
            <a:r>
              <a:rPr lang="pt-BR" sz="400" dirty="0">
                <a:solidFill>
                  <a:srgbClr val="667286"/>
                </a:solidFill>
              </a:rPr>
              <a:t>Gerada na Pasta T</a:t>
            </a:r>
            <a:endParaRPr lang="pt-BR" sz="500" b="1" dirty="0"/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9D35775B-8517-68EA-AECD-A9F82847A71F}"/>
              </a:ext>
            </a:extLst>
          </p:cNvPr>
          <p:cNvSpPr txBox="1"/>
          <p:nvPr/>
        </p:nvSpPr>
        <p:spPr>
          <a:xfrm>
            <a:off x="3282996" y="2681248"/>
            <a:ext cx="4216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/>
              <a:t>📁</a:t>
            </a:r>
          </a:p>
        </p:txBody>
      </p:sp>
      <p:cxnSp>
        <p:nvCxnSpPr>
          <p:cNvPr id="87" name="Conector de Seta Reta 86">
            <a:extLst>
              <a:ext uri="{FF2B5EF4-FFF2-40B4-BE49-F238E27FC236}">
                <a16:creationId xmlns:a16="http://schemas.microsoft.com/office/drawing/2014/main" id="{7D562103-15AC-DC47-3F52-517657FDDFC0}"/>
              </a:ext>
            </a:extLst>
          </p:cNvPr>
          <p:cNvCxnSpPr/>
          <p:nvPr/>
        </p:nvCxnSpPr>
        <p:spPr>
          <a:xfrm>
            <a:off x="4136752" y="1782275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>
            <a:extLst>
              <a:ext uri="{FF2B5EF4-FFF2-40B4-BE49-F238E27FC236}">
                <a16:creationId xmlns:a16="http://schemas.microsoft.com/office/drawing/2014/main" id="{EFAB75C0-CFB3-89DD-2B3E-5F13D57C6103}"/>
              </a:ext>
            </a:extLst>
          </p:cNvPr>
          <p:cNvCxnSpPr/>
          <p:nvPr/>
        </p:nvCxnSpPr>
        <p:spPr>
          <a:xfrm>
            <a:off x="4136752" y="2398282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4F1C33EC-538F-9B81-3CFD-0EA61DAAC526}"/>
              </a:ext>
            </a:extLst>
          </p:cNvPr>
          <p:cNvSpPr/>
          <p:nvPr/>
        </p:nvSpPr>
        <p:spPr>
          <a:xfrm>
            <a:off x="3265023" y="3240957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id="{0BA04655-C6FF-BCDC-FB05-4C74B3DAA51B}"/>
              </a:ext>
            </a:extLst>
          </p:cNvPr>
          <p:cNvSpPr/>
          <p:nvPr/>
        </p:nvSpPr>
        <p:spPr>
          <a:xfrm>
            <a:off x="3333818" y="3317924"/>
            <a:ext cx="258029" cy="241351"/>
          </a:xfrm>
          <a:prstGeom prst="ellipse">
            <a:avLst/>
          </a:prstGeom>
          <a:solidFill>
            <a:srgbClr val="FFE8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70047985-7658-5A80-6FD9-4044CB683879}"/>
              </a:ext>
            </a:extLst>
          </p:cNvPr>
          <p:cNvSpPr txBox="1"/>
          <p:nvPr/>
        </p:nvSpPr>
        <p:spPr>
          <a:xfrm>
            <a:off x="3544457" y="3271745"/>
            <a:ext cx="14135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Envia para Aprovação e Assinatura</a:t>
            </a:r>
          </a:p>
          <a:p>
            <a:r>
              <a:rPr lang="pt-BR" sz="500" dirty="0">
                <a:solidFill>
                  <a:srgbClr val="667286"/>
                </a:solidFill>
              </a:rPr>
              <a:t>De fechamento (geral e CC) com toda a execução do evento (Data, hora, etc.)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B2A6F8D1-68BD-4DAE-05C5-6FC9E81CDE1B}"/>
              </a:ext>
            </a:extLst>
          </p:cNvPr>
          <p:cNvSpPr txBox="1"/>
          <p:nvPr/>
        </p:nvSpPr>
        <p:spPr>
          <a:xfrm>
            <a:off x="3280061" y="3304784"/>
            <a:ext cx="3560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/>
              <a:t>📊</a:t>
            </a:r>
            <a:endParaRPr lang="pt-BR" sz="1100" dirty="0">
              <a:solidFill>
                <a:srgbClr val="3585F6"/>
              </a:solidFill>
            </a:endParaRPr>
          </a:p>
        </p:txBody>
      </p:sp>
      <p:cxnSp>
        <p:nvCxnSpPr>
          <p:cNvPr id="93" name="Conector de Seta Reta 92">
            <a:extLst>
              <a:ext uri="{FF2B5EF4-FFF2-40B4-BE49-F238E27FC236}">
                <a16:creationId xmlns:a16="http://schemas.microsoft.com/office/drawing/2014/main" id="{BF5981E5-1B14-CC4B-155D-71AB59FAF4DA}"/>
              </a:ext>
            </a:extLst>
          </p:cNvPr>
          <p:cNvCxnSpPr/>
          <p:nvPr/>
        </p:nvCxnSpPr>
        <p:spPr>
          <a:xfrm>
            <a:off x="4136752" y="3014289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32F48C8C-94F1-ACA8-F375-B5924C1E783C}"/>
              </a:ext>
            </a:extLst>
          </p:cNvPr>
          <p:cNvSpPr/>
          <p:nvPr/>
        </p:nvSpPr>
        <p:spPr>
          <a:xfrm>
            <a:off x="5263770" y="791479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06ECDE66-1872-892D-45B1-1B00625819B9}"/>
              </a:ext>
            </a:extLst>
          </p:cNvPr>
          <p:cNvSpPr/>
          <p:nvPr/>
        </p:nvSpPr>
        <p:spPr>
          <a:xfrm>
            <a:off x="5332565" y="868446"/>
            <a:ext cx="258029" cy="24135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0" name="CaixaDeTexto 639">
            <a:extLst>
              <a:ext uri="{FF2B5EF4-FFF2-40B4-BE49-F238E27FC236}">
                <a16:creationId xmlns:a16="http://schemas.microsoft.com/office/drawing/2014/main" id="{032F27ED-F1FC-5AFE-A28E-7F3AD4D61AF1}"/>
              </a:ext>
            </a:extLst>
          </p:cNvPr>
          <p:cNvSpPr txBox="1"/>
          <p:nvPr/>
        </p:nvSpPr>
        <p:spPr>
          <a:xfrm>
            <a:off x="5544161" y="871875"/>
            <a:ext cx="14135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Recebe Demandas</a:t>
            </a:r>
          </a:p>
          <a:p>
            <a:r>
              <a:rPr lang="pt-BR" sz="400" dirty="0">
                <a:solidFill>
                  <a:srgbClr val="667286"/>
                </a:solidFill>
              </a:rPr>
              <a:t>Via </a:t>
            </a:r>
            <a:r>
              <a:rPr lang="pt-BR" sz="400" b="1" dirty="0">
                <a:solidFill>
                  <a:srgbClr val="667286"/>
                </a:solidFill>
              </a:rPr>
              <a:t>Comerciais </a:t>
            </a:r>
            <a:r>
              <a:rPr lang="pt-BR" sz="400" dirty="0">
                <a:solidFill>
                  <a:srgbClr val="667286"/>
                </a:solidFill>
              </a:rPr>
              <a:t>por SEND/E-MAIL/WHATSAPP</a:t>
            </a:r>
          </a:p>
        </p:txBody>
      </p:sp>
      <p:sp>
        <p:nvSpPr>
          <p:cNvPr id="641" name="CaixaDeTexto 640">
            <a:extLst>
              <a:ext uri="{FF2B5EF4-FFF2-40B4-BE49-F238E27FC236}">
                <a16:creationId xmlns:a16="http://schemas.microsoft.com/office/drawing/2014/main" id="{8DA1F055-D1BE-2BF5-8FA2-53FC8C137DBB}"/>
              </a:ext>
            </a:extLst>
          </p:cNvPr>
          <p:cNvSpPr txBox="1"/>
          <p:nvPr/>
        </p:nvSpPr>
        <p:spPr>
          <a:xfrm>
            <a:off x="5282502" y="832259"/>
            <a:ext cx="3560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3585F6"/>
                </a:solidFill>
                <a:effectLst/>
                <a:latin typeface="consolas" panose="020B0609020204030204" pitchFamily="49" charset="0"/>
              </a:rPr>
              <a:t>✉</a:t>
            </a:r>
            <a:endParaRPr lang="pt-BR" dirty="0">
              <a:solidFill>
                <a:srgbClr val="3585F6"/>
              </a:solidFill>
            </a:endParaRPr>
          </a:p>
        </p:txBody>
      </p:sp>
      <p:sp>
        <p:nvSpPr>
          <p:cNvPr id="642" name="Retângulo: Cantos Arredondados 641">
            <a:extLst>
              <a:ext uri="{FF2B5EF4-FFF2-40B4-BE49-F238E27FC236}">
                <a16:creationId xmlns:a16="http://schemas.microsoft.com/office/drawing/2014/main" id="{57B6F226-FCDD-7BCA-7056-13539712B98E}"/>
              </a:ext>
            </a:extLst>
          </p:cNvPr>
          <p:cNvSpPr/>
          <p:nvPr/>
        </p:nvSpPr>
        <p:spPr>
          <a:xfrm>
            <a:off x="5260351" y="1407486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3" name="Elipse 642">
            <a:extLst>
              <a:ext uri="{FF2B5EF4-FFF2-40B4-BE49-F238E27FC236}">
                <a16:creationId xmlns:a16="http://schemas.microsoft.com/office/drawing/2014/main" id="{8D15DF28-C61E-A2E2-A383-07A25ED50864}"/>
              </a:ext>
            </a:extLst>
          </p:cNvPr>
          <p:cNvSpPr/>
          <p:nvPr/>
        </p:nvSpPr>
        <p:spPr>
          <a:xfrm>
            <a:off x="5329146" y="1484453"/>
            <a:ext cx="258029" cy="24135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4" name="CaixaDeTexto 643">
            <a:extLst>
              <a:ext uri="{FF2B5EF4-FFF2-40B4-BE49-F238E27FC236}">
                <a16:creationId xmlns:a16="http://schemas.microsoft.com/office/drawing/2014/main" id="{07DD406A-9E5E-0BCC-F0D0-38BB5F56D76F}"/>
              </a:ext>
            </a:extLst>
          </p:cNvPr>
          <p:cNvSpPr txBox="1"/>
          <p:nvPr/>
        </p:nvSpPr>
        <p:spPr>
          <a:xfrm>
            <a:off x="5540742" y="1455835"/>
            <a:ext cx="137474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Identifica o tipo de Proposta</a:t>
            </a:r>
          </a:p>
          <a:p>
            <a:r>
              <a:rPr lang="pt-BR" sz="400" dirty="0">
                <a:solidFill>
                  <a:srgbClr val="667286"/>
                </a:solidFill>
              </a:rPr>
              <a:t>Mistas (cessão não onerosa e pagas) ou Total (Pagamento Integral)</a:t>
            </a:r>
          </a:p>
        </p:txBody>
      </p:sp>
      <p:sp>
        <p:nvSpPr>
          <p:cNvPr id="645" name="CaixaDeTexto 644">
            <a:extLst>
              <a:ext uri="{FF2B5EF4-FFF2-40B4-BE49-F238E27FC236}">
                <a16:creationId xmlns:a16="http://schemas.microsoft.com/office/drawing/2014/main" id="{878186BB-FC05-B8C5-B194-45201E43F454}"/>
              </a:ext>
            </a:extLst>
          </p:cNvPr>
          <p:cNvSpPr txBox="1"/>
          <p:nvPr/>
        </p:nvSpPr>
        <p:spPr>
          <a:xfrm>
            <a:off x="5263770" y="1459022"/>
            <a:ext cx="4216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0" i="0" dirty="0">
                <a:solidFill>
                  <a:srgbClr val="E3E3E3"/>
                </a:solidFill>
                <a:effectLst/>
                <a:latin typeface="consolas" panose="020B0609020204030204" pitchFamily="49" charset="0"/>
              </a:rPr>
              <a:t>🔍</a:t>
            </a:r>
            <a:endParaRPr lang="pt-BR" sz="1200" dirty="0"/>
          </a:p>
        </p:txBody>
      </p:sp>
      <p:cxnSp>
        <p:nvCxnSpPr>
          <p:cNvPr id="646" name="Conector de Seta Reta 645">
            <a:extLst>
              <a:ext uri="{FF2B5EF4-FFF2-40B4-BE49-F238E27FC236}">
                <a16:creationId xmlns:a16="http://schemas.microsoft.com/office/drawing/2014/main" id="{7DDE8F64-A3D5-FA5B-F417-D1ED25E1F775}"/>
              </a:ext>
            </a:extLst>
          </p:cNvPr>
          <p:cNvCxnSpPr>
            <a:endCxn id="642" idx="0"/>
          </p:cNvCxnSpPr>
          <p:nvPr/>
        </p:nvCxnSpPr>
        <p:spPr>
          <a:xfrm>
            <a:off x="6127489" y="1180818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7" name="Retângulo: Cantos Arredondados 646">
            <a:extLst>
              <a:ext uri="{FF2B5EF4-FFF2-40B4-BE49-F238E27FC236}">
                <a16:creationId xmlns:a16="http://schemas.microsoft.com/office/drawing/2014/main" id="{C7A7B1BD-89D1-9534-5D51-423B52D7D3A6}"/>
              </a:ext>
            </a:extLst>
          </p:cNvPr>
          <p:cNvSpPr/>
          <p:nvPr/>
        </p:nvSpPr>
        <p:spPr>
          <a:xfrm>
            <a:off x="5263770" y="2023493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8" name="Elipse 647">
            <a:extLst>
              <a:ext uri="{FF2B5EF4-FFF2-40B4-BE49-F238E27FC236}">
                <a16:creationId xmlns:a16="http://schemas.microsoft.com/office/drawing/2014/main" id="{170CDC93-B71C-4F18-5548-01BD9721DE96}"/>
              </a:ext>
            </a:extLst>
          </p:cNvPr>
          <p:cNvSpPr/>
          <p:nvPr/>
        </p:nvSpPr>
        <p:spPr>
          <a:xfrm>
            <a:off x="5332565" y="2100460"/>
            <a:ext cx="258029" cy="24135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9" name="CaixaDeTexto 648">
            <a:extLst>
              <a:ext uri="{FF2B5EF4-FFF2-40B4-BE49-F238E27FC236}">
                <a16:creationId xmlns:a16="http://schemas.microsoft.com/office/drawing/2014/main" id="{73FC9706-CFC5-1A49-E315-B94EB2389A08}"/>
              </a:ext>
            </a:extLst>
          </p:cNvPr>
          <p:cNvSpPr txBox="1"/>
          <p:nvPr/>
        </p:nvSpPr>
        <p:spPr>
          <a:xfrm>
            <a:off x="5544161" y="2103889"/>
            <a:ext cx="14135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Negociação de Alimentos &amp; Bebidas</a:t>
            </a:r>
          </a:p>
          <a:p>
            <a:r>
              <a:rPr lang="pt-BR" sz="400" dirty="0">
                <a:solidFill>
                  <a:srgbClr val="667286"/>
                </a:solidFill>
              </a:rPr>
              <a:t>Com a Empresa Escola</a:t>
            </a:r>
          </a:p>
        </p:txBody>
      </p:sp>
      <p:sp>
        <p:nvSpPr>
          <p:cNvPr id="650" name="CaixaDeTexto 649">
            <a:extLst>
              <a:ext uri="{FF2B5EF4-FFF2-40B4-BE49-F238E27FC236}">
                <a16:creationId xmlns:a16="http://schemas.microsoft.com/office/drawing/2014/main" id="{F88953BA-516F-8C0E-1654-61E96B81864B}"/>
              </a:ext>
            </a:extLst>
          </p:cNvPr>
          <p:cNvSpPr txBox="1"/>
          <p:nvPr/>
        </p:nvSpPr>
        <p:spPr>
          <a:xfrm>
            <a:off x="5288852" y="2067448"/>
            <a:ext cx="356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3585F6"/>
                </a:solidFill>
              </a:rPr>
              <a:t>🖇</a:t>
            </a:r>
          </a:p>
        </p:txBody>
      </p:sp>
      <p:sp>
        <p:nvSpPr>
          <p:cNvPr id="651" name="Retângulo: Cantos Arredondados 650">
            <a:extLst>
              <a:ext uri="{FF2B5EF4-FFF2-40B4-BE49-F238E27FC236}">
                <a16:creationId xmlns:a16="http://schemas.microsoft.com/office/drawing/2014/main" id="{52E5B415-DCF4-AD72-1CCA-4B95A586A473}"/>
              </a:ext>
            </a:extLst>
          </p:cNvPr>
          <p:cNvSpPr/>
          <p:nvPr/>
        </p:nvSpPr>
        <p:spPr>
          <a:xfrm>
            <a:off x="5260351" y="2639500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2" name="Elipse 651">
            <a:extLst>
              <a:ext uri="{FF2B5EF4-FFF2-40B4-BE49-F238E27FC236}">
                <a16:creationId xmlns:a16="http://schemas.microsoft.com/office/drawing/2014/main" id="{0E31FFAC-AAB7-F126-6776-64F4EE3222B0}"/>
              </a:ext>
            </a:extLst>
          </p:cNvPr>
          <p:cNvSpPr/>
          <p:nvPr/>
        </p:nvSpPr>
        <p:spPr>
          <a:xfrm>
            <a:off x="5329146" y="2716467"/>
            <a:ext cx="258029" cy="24135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3" name="CaixaDeTexto 652">
            <a:extLst>
              <a:ext uri="{FF2B5EF4-FFF2-40B4-BE49-F238E27FC236}">
                <a16:creationId xmlns:a16="http://schemas.microsoft.com/office/drawing/2014/main" id="{B3F1D6FE-7FB5-5381-CC9A-D7D1D85511BA}"/>
              </a:ext>
            </a:extLst>
          </p:cNvPr>
          <p:cNvSpPr txBox="1"/>
          <p:nvPr/>
        </p:nvSpPr>
        <p:spPr>
          <a:xfrm>
            <a:off x="5540742" y="2749531"/>
            <a:ext cx="13747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Elabora Proposta</a:t>
            </a:r>
          </a:p>
        </p:txBody>
      </p:sp>
      <p:sp>
        <p:nvSpPr>
          <p:cNvPr id="654" name="CaixaDeTexto 653">
            <a:extLst>
              <a:ext uri="{FF2B5EF4-FFF2-40B4-BE49-F238E27FC236}">
                <a16:creationId xmlns:a16="http://schemas.microsoft.com/office/drawing/2014/main" id="{E201C266-7E09-2AC5-ACAA-FEBB018E8F66}"/>
              </a:ext>
            </a:extLst>
          </p:cNvPr>
          <p:cNvSpPr txBox="1"/>
          <p:nvPr/>
        </p:nvSpPr>
        <p:spPr>
          <a:xfrm>
            <a:off x="5263770" y="2691036"/>
            <a:ext cx="4216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/>
              <a:t>📝</a:t>
            </a:r>
            <a:endParaRPr lang="pt-BR" sz="1200" dirty="0"/>
          </a:p>
        </p:txBody>
      </p:sp>
      <p:cxnSp>
        <p:nvCxnSpPr>
          <p:cNvPr id="655" name="Conector de Seta Reta 654">
            <a:extLst>
              <a:ext uri="{FF2B5EF4-FFF2-40B4-BE49-F238E27FC236}">
                <a16:creationId xmlns:a16="http://schemas.microsoft.com/office/drawing/2014/main" id="{EF3A1A41-CF23-18E6-4E56-BF8B0B759142}"/>
              </a:ext>
            </a:extLst>
          </p:cNvPr>
          <p:cNvCxnSpPr/>
          <p:nvPr/>
        </p:nvCxnSpPr>
        <p:spPr>
          <a:xfrm>
            <a:off x="6127489" y="1796825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Conector de Seta Reta 655">
            <a:extLst>
              <a:ext uri="{FF2B5EF4-FFF2-40B4-BE49-F238E27FC236}">
                <a16:creationId xmlns:a16="http://schemas.microsoft.com/office/drawing/2014/main" id="{4CE73F47-0984-5AAB-D747-DF9123E4DCBD}"/>
              </a:ext>
            </a:extLst>
          </p:cNvPr>
          <p:cNvCxnSpPr/>
          <p:nvPr/>
        </p:nvCxnSpPr>
        <p:spPr>
          <a:xfrm>
            <a:off x="6127489" y="2412832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7" name="Retângulo: Cantos Arredondados 656">
            <a:extLst>
              <a:ext uri="{FF2B5EF4-FFF2-40B4-BE49-F238E27FC236}">
                <a16:creationId xmlns:a16="http://schemas.microsoft.com/office/drawing/2014/main" id="{A1EEC4C2-6372-3435-4E20-42C9E811EA5C}"/>
              </a:ext>
            </a:extLst>
          </p:cNvPr>
          <p:cNvSpPr/>
          <p:nvPr/>
        </p:nvSpPr>
        <p:spPr>
          <a:xfrm>
            <a:off x="5255760" y="3255507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8" name="Elipse 657">
            <a:extLst>
              <a:ext uri="{FF2B5EF4-FFF2-40B4-BE49-F238E27FC236}">
                <a16:creationId xmlns:a16="http://schemas.microsoft.com/office/drawing/2014/main" id="{6862656C-0FD4-339A-EE14-E2621015B106}"/>
              </a:ext>
            </a:extLst>
          </p:cNvPr>
          <p:cNvSpPr/>
          <p:nvPr/>
        </p:nvSpPr>
        <p:spPr>
          <a:xfrm>
            <a:off x="5324555" y="3332474"/>
            <a:ext cx="258029" cy="24135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9" name="CaixaDeTexto 658">
            <a:extLst>
              <a:ext uri="{FF2B5EF4-FFF2-40B4-BE49-F238E27FC236}">
                <a16:creationId xmlns:a16="http://schemas.microsoft.com/office/drawing/2014/main" id="{551C5041-9962-D947-27C4-2E83C05D9A17}"/>
              </a:ext>
            </a:extLst>
          </p:cNvPr>
          <p:cNvSpPr txBox="1"/>
          <p:nvPr/>
        </p:nvSpPr>
        <p:spPr>
          <a:xfrm>
            <a:off x="5535194" y="3361928"/>
            <a:ext cx="141354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Envia para Aprovação e Assinatura</a:t>
            </a:r>
          </a:p>
        </p:txBody>
      </p:sp>
      <p:sp>
        <p:nvSpPr>
          <p:cNvPr id="660" name="CaixaDeTexto 659">
            <a:extLst>
              <a:ext uri="{FF2B5EF4-FFF2-40B4-BE49-F238E27FC236}">
                <a16:creationId xmlns:a16="http://schemas.microsoft.com/office/drawing/2014/main" id="{63465C92-E12B-0405-715B-EF10E1C1E9BD}"/>
              </a:ext>
            </a:extLst>
          </p:cNvPr>
          <p:cNvSpPr txBox="1"/>
          <p:nvPr/>
        </p:nvSpPr>
        <p:spPr>
          <a:xfrm>
            <a:off x="5303067" y="3305812"/>
            <a:ext cx="356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3585F6"/>
                </a:solidFill>
              </a:rPr>
              <a:t>✓</a:t>
            </a:r>
          </a:p>
        </p:txBody>
      </p:sp>
      <p:cxnSp>
        <p:nvCxnSpPr>
          <p:cNvPr id="661" name="Conector de Seta Reta 660">
            <a:extLst>
              <a:ext uri="{FF2B5EF4-FFF2-40B4-BE49-F238E27FC236}">
                <a16:creationId xmlns:a16="http://schemas.microsoft.com/office/drawing/2014/main" id="{03E38FB8-7DB0-5326-0D0A-A0B78195E4A6}"/>
              </a:ext>
            </a:extLst>
          </p:cNvPr>
          <p:cNvCxnSpPr/>
          <p:nvPr/>
        </p:nvCxnSpPr>
        <p:spPr>
          <a:xfrm>
            <a:off x="6127489" y="3028839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Conector reto 661">
            <a:extLst>
              <a:ext uri="{FF2B5EF4-FFF2-40B4-BE49-F238E27FC236}">
                <a16:creationId xmlns:a16="http://schemas.microsoft.com/office/drawing/2014/main" id="{BF44B8B2-1726-0E41-150F-22D1FE4249B7}"/>
              </a:ext>
            </a:extLst>
          </p:cNvPr>
          <p:cNvCxnSpPr>
            <a:cxnSpLocks/>
          </p:cNvCxnSpPr>
          <p:nvPr/>
        </p:nvCxnSpPr>
        <p:spPr>
          <a:xfrm>
            <a:off x="6990036" y="4085177"/>
            <a:ext cx="131489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Conector de Seta Reta 662">
            <a:extLst>
              <a:ext uri="{FF2B5EF4-FFF2-40B4-BE49-F238E27FC236}">
                <a16:creationId xmlns:a16="http://schemas.microsoft.com/office/drawing/2014/main" id="{433589B7-FF8D-3E5B-8641-0EA19E905045}"/>
              </a:ext>
            </a:extLst>
          </p:cNvPr>
          <p:cNvCxnSpPr>
            <a:cxnSpLocks/>
          </p:cNvCxnSpPr>
          <p:nvPr/>
        </p:nvCxnSpPr>
        <p:spPr>
          <a:xfrm>
            <a:off x="7092938" y="993171"/>
            <a:ext cx="113620" cy="0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Conector reto 663">
            <a:extLst>
              <a:ext uri="{FF2B5EF4-FFF2-40B4-BE49-F238E27FC236}">
                <a16:creationId xmlns:a16="http://schemas.microsoft.com/office/drawing/2014/main" id="{8336928F-3210-C672-FAB5-20717696F39E}"/>
              </a:ext>
            </a:extLst>
          </p:cNvPr>
          <p:cNvCxnSpPr>
            <a:cxnSpLocks/>
          </p:cNvCxnSpPr>
          <p:nvPr/>
        </p:nvCxnSpPr>
        <p:spPr>
          <a:xfrm>
            <a:off x="7095319" y="990593"/>
            <a:ext cx="23031" cy="3098807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5" name="Retângulo: Cantos Arredondados 664">
            <a:extLst>
              <a:ext uri="{FF2B5EF4-FFF2-40B4-BE49-F238E27FC236}">
                <a16:creationId xmlns:a16="http://schemas.microsoft.com/office/drawing/2014/main" id="{AFD1A2D8-8D07-10E2-8590-D1526623018B}"/>
              </a:ext>
            </a:extLst>
          </p:cNvPr>
          <p:cNvSpPr/>
          <p:nvPr/>
        </p:nvSpPr>
        <p:spPr>
          <a:xfrm>
            <a:off x="7225707" y="1407486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6" name="Elipse 665">
            <a:extLst>
              <a:ext uri="{FF2B5EF4-FFF2-40B4-BE49-F238E27FC236}">
                <a16:creationId xmlns:a16="http://schemas.microsoft.com/office/drawing/2014/main" id="{1696F160-89E0-0192-822A-3D26FC46FF2D}"/>
              </a:ext>
            </a:extLst>
          </p:cNvPr>
          <p:cNvSpPr/>
          <p:nvPr/>
        </p:nvSpPr>
        <p:spPr>
          <a:xfrm>
            <a:off x="7294502" y="1484453"/>
            <a:ext cx="258029" cy="24135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8" name="CaixaDeTexto 667">
            <a:extLst>
              <a:ext uri="{FF2B5EF4-FFF2-40B4-BE49-F238E27FC236}">
                <a16:creationId xmlns:a16="http://schemas.microsoft.com/office/drawing/2014/main" id="{908D243C-B8D9-B7BC-B37A-9ED56B54C61A}"/>
              </a:ext>
            </a:extLst>
          </p:cNvPr>
          <p:cNvSpPr txBox="1"/>
          <p:nvPr/>
        </p:nvSpPr>
        <p:spPr>
          <a:xfrm>
            <a:off x="7506098" y="1487882"/>
            <a:ext cx="14135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Gera Ordem de Serviço</a:t>
            </a:r>
          </a:p>
          <a:p>
            <a:r>
              <a:rPr lang="pt-BR" sz="400" dirty="0">
                <a:solidFill>
                  <a:srgbClr val="667286"/>
                </a:solidFill>
              </a:rPr>
              <a:t>E envia por e-mail</a:t>
            </a:r>
          </a:p>
        </p:txBody>
      </p:sp>
      <p:sp>
        <p:nvSpPr>
          <p:cNvPr id="669" name="CaixaDeTexto 668">
            <a:extLst>
              <a:ext uri="{FF2B5EF4-FFF2-40B4-BE49-F238E27FC236}">
                <a16:creationId xmlns:a16="http://schemas.microsoft.com/office/drawing/2014/main" id="{5B167DC2-5953-4373-513C-44B712C9F5BB}"/>
              </a:ext>
            </a:extLst>
          </p:cNvPr>
          <p:cNvSpPr txBox="1"/>
          <p:nvPr/>
        </p:nvSpPr>
        <p:spPr>
          <a:xfrm>
            <a:off x="7230150" y="1448266"/>
            <a:ext cx="356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📩</a:t>
            </a:r>
            <a:endParaRPr lang="pt-BR" sz="1200" dirty="0">
              <a:solidFill>
                <a:srgbClr val="3585F6"/>
              </a:solidFill>
            </a:endParaRPr>
          </a:p>
        </p:txBody>
      </p:sp>
      <p:sp>
        <p:nvSpPr>
          <p:cNvPr id="670" name="Retângulo: Cantos Arredondados 669">
            <a:extLst>
              <a:ext uri="{FF2B5EF4-FFF2-40B4-BE49-F238E27FC236}">
                <a16:creationId xmlns:a16="http://schemas.microsoft.com/office/drawing/2014/main" id="{FFBC0721-8D73-F7F3-FE63-3BD1AF2CD456}"/>
              </a:ext>
            </a:extLst>
          </p:cNvPr>
          <p:cNvSpPr/>
          <p:nvPr/>
        </p:nvSpPr>
        <p:spPr>
          <a:xfrm>
            <a:off x="7222288" y="2023493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1" name="Elipse 670">
            <a:extLst>
              <a:ext uri="{FF2B5EF4-FFF2-40B4-BE49-F238E27FC236}">
                <a16:creationId xmlns:a16="http://schemas.microsoft.com/office/drawing/2014/main" id="{251E7ABF-2587-5F63-5B82-A334EDB31FDE}"/>
              </a:ext>
            </a:extLst>
          </p:cNvPr>
          <p:cNvSpPr/>
          <p:nvPr/>
        </p:nvSpPr>
        <p:spPr>
          <a:xfrm>
            <a:off x="7291083" y="2100460"/>
            <a:ext cx="258029" cy="24135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4" name="CaixaDeTexto 703">
            <a:extLst>
              <a:ext uri="{FF2B5EF4-FFF2-40B4-BE49-F238E27FC236}">
                <a16:creationId xmlns:a16="http://schemas.microsoft.com/office/drawing/2014/main" id="{2E33878A-7BD3-EDA6-773D-A96AD7515CC1}"/>
              </a:ext>
            </a:extLst>
          </p:cNvPr>
          <p:cNvSpPr txBox="1"/>
          <p:nvPr/>
        </p:nvSpPr>
        <p:spPr>
          <a:xfrm>
            <a:off x="7502679" y="2071842"/>
            <a:ext cx="137474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Operacional</a:t>
            </a:r>
          </a:p>
          <a:p>
            <a:r>
              <a:rPr lang="pt-BR" sz="400" dirty="0">
                <a:solidFill>
                  <a:srgbClr val="667286"/>
                </a:solidFill>
              </a:rPr>
              <a:t>Prod. Eventos + TI Unidade</a:t>
            </a:r>
          </a:p>
          <a:p>
            <a:r>
              <a:rPr lang="pt-BR" sz="400" dirty="0">
                <a:solidFill>
                  <a:srgbClr val="667286"/>
                </a:solidFill>
              </a:rPr>
              <a:t>Organiza e Acompanha o Evento</a:t>
            </a:r>
          </a:p>
        </p:txBody>
      </p:sp>
      <p:sp>
        <p:nvSpPr>
          <p:cNvPr id="705" name="CaixaDeTexto 704">
            <a:extLst>
              <a:ext uri="{FF2B5EF4-FFF2-40B4-BE49-F238E27FC236}">
                <a16:creationId xmlns:a16="http://schemas.microsoft.com/office/drawing/2014/main" id="{6F62A8D6-18EC-E9E9-FB36-803193200AB4}"/>
              </a:ext>
            </a:extLst>
          </p:cNvPr>
          <p:cNvSpPr txBox="1"/>
          <p:nvPr/>
        </p:nvSpPr>
        <p:spPr>
          <a:xfrm>
            <a:off x="7254228" y="2065978"/>
            <a:ext cx="4216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5"/>
                </a:solidFill>
              </a:rPr>
              <a:t>⚙</a:t>
            </a:r>
            <a:endParaRPr lang="pt-BR" sz="1200" dirty="0">
              <a:solidFill>
                <a:schemeClr val="accent5"/>
              </a:solidFill>
            </a:endParaRPr>
          </a:p>
        </p:txBody>
      </p:sp>
      <p:cxnSp>
        <p:nvCxnSpPr>
          <p:cNvPr id="706" name="Conector de Seta Reta 705">
            <a:extLst>
              <a:ext uri="{FF2B5EF4-FFF2-40B4-BE49-F238E27FC236}">
                <a16:creationId xmlns:a16="http://schemas.microsoft.com/office/drawing/2014/main" id="{84488405-D558-5295-F508-CF815CC614D9}"/>
              </a:ext>
            </a:extLst>
          </p:cNvPr>
          <p:cNvCxnSpPr>
            <a:endCxn id="670" idx="0"/>
          </p:cNvCxnSpPr>
          <p:nvPr/>
        </p:nvCxnSpPr>
        <p:spPr>
          <a:xfrm>
            <a:off x="8089426" y="1796825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7" name="Retângulo: Cantos Arredondados 706">
            <a:extLst>
              <a:ext uri="{FF2B5EF4-FFF2-40B4-BE49-F238E27FC236}">
                <a16:creationId xmlns:a16="http://schemas.microsoft.com/office/drawing/2014/main" id="{22EC045D-317C-88EF-E373-1FDB2B8C0F31}"/>
              </a:ext>
            </a:extLst>
          </p:cNvPr>
          <p:cNvSpPr/>
          <p:nvPr/>
        </p:nvSpPr>
        <p:spPr>
          <a:xfrm>
            <a:off x="7225707" y="2639500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8" name="Elipse 707">
            <a:extLst>
              <a:ext uri="{FF2B5EF4-FFF2-40B4-BE49-F238E27FC236}">
                <a16:creationId xmlns:a16="http://schemas.microsoft.com/office/drawing/2014/main" id="{15AE04E5-5025-CCAA-4023-3B5D5C270C15}"/>
              </a:ext>
            </a:extLst>
          </p:cNvPr>
          <p:cNvSpPr/>
          <p:nvPr/>
        </p:nvSpPr>
        <p:spPr>
          <a:xfrm>
            <a:off x="7294502" y="2716467"/>
            <a:ext cx="258029" cy="241351"/>
          </a:xfrm>
          <a:prstGeom prst="ellipse">
            <a:avLst/>
          </a:prstGeom>
          <a:solidFill>
            <a:srgbClr val="FFE8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9" name="CaixaDeTexto 708">
            <a:extLst>
              <a:ext uri="{FF2B5EF4-FFF2-40B4-BE49-F238E27FC236}">
                <a16:creationId xmlns:a16="http://schemas.microsoft.com/office/drawing/2014/main" id="{69CB4DD1-972D-D534-F203-9B6EF783A060}"/>
              </a:ext>
            </a:extLst>
          </p:cNvPr>
          <p:cNvSpPr txBox="1"/>
          <p:nvPr/>
        </p:nvSpPr>
        <p:spPr>
          <a:xfrm>
            <a:off x="7506098" y="2719896"/>
            <a:ext cx="14135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Solicita o Fechamento de Caixa</a:t>
            </a:r>
          </a:p>
          <a:p>
            <a:r>
              <a:rPr lang="pt-BR" sz="400" dirty="0">
                <a:solidFill>
                  <a:srgbClr val="667286"/>
                </a:solidFill>
              </a:rPr>
              <a:t>Por e-mail para anexo da </a:t>
            </a:r>
            <a:r>
              <a:rPr lang="pt-BR" sz="400" dirty="0" err="1">
                <a:solidFill>
                  <a:srgbClr val="667286"/>
                </a:solidFill>
              </a:rPr>
              <a:t>NFce</a:t>
            </a:r>
            <a:endParaRPr lang="pt-BR" sz="400" dirty="0">
              <a:solidFill>
                <a:srgbClr val="667286"/>
              </a:solidFill>
            </a:endParaRPr>
          </a:p>
        </p:txBody>
      </p:sp>
      <p:sp>
        <p:nvSpPr>
          <p:cNvPr id="710" name="CaixaDeTexto 709">
            <a:extLst>
              <a:ext uri="{FF2B5EF4-FFF2-40B4-BE49-F238E27FC236}">
                <a16:creationId xmlns:a16="http://schemas.microsoft.com/office/drawing/2014/main" id="{1F65BCBB-BE98-9799-3171-4F6BDB2F4F6C}"/>
              </a:ext>
            </a:extLst>
          </p:cNvPr>
          <p:cNvSpPr txBox="1"/>
          <p:nvPr/>
        </p:nvSpPr>
        <p:spPr>
          <a:xfrm>
            <a:off x="7265004" y="2639500"/>
            <a:ext cx="3560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FA7406"/>
                </a:solidFill>
              </a:rPr>
              <a:t>🖩</a:t>
            </a:r>
          </a:p>
        </p:txBody>
      </p:sp>
      <p:sp>
        <p:nvSpPr>
          <p:cNvPr id="711" name="Retângulo: Cantos Arredondados 710">
            <a:extLst>
              <a:ext uri="{FF2B5EF4-FFF2-40B4-BE49-F238E27FC236}">
                <a16:creationId xmlns:a16="http://schemas.microsoft.com/office/drawing/2014/main" id="{D94E5C96-5C51-2DEC-FC42-BDECD192877F}"/>
              </a:ext>
            </a:extLst>
          </p:cNvPr>
          <p:cNvSpPr/>
          <p:nvPr/>
        </p:nvSpPr>
        <p:spPr>
          <a:xfrm>
            <a:off x="7222288" y="3255507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2" name="Elipse 711">
            <a:extLst>
              <a:ext uri="{FF2B5EF4-FFF2-40B4-BE49-F238E27FC236}">
                <a16:creationId xmlns:a16="http://schemas.microsoft.com/office/drawing/2014/main" id="{16E3653F-038F-A3E6-AF3B-B490796F8611}"/>
              </a:ext>
            </a:extLst>
          </p:cNvPr>
          <p:cNvSpPr/>
          <p:nvPr/>
        </p:nvSpPr>
        <p:spPr>
          <a:xfrm>
            <a:off x="7291083" y="3332474"/>
            <a:ext cx="258029" cy="241351"/>
          </a:xfrm>
          <a:prstGeom prst="ellipse">
            <a:avLst/>
          </a:prstGeom>
          <a:solidFill>
            <a:srgbClr val="FFE8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3" name="CaixaDeTexto 712">
            <a:extLst>
              <a:ext uri="{FF2B5EF4-FFF2-40B4-BE49-F238E27FC236}">
                <a16:creationId xmlns:a16="http://schemas.microsoft.com/office/drawing/2014/main" id="{78C6E2AD-BC24-E350-CB79-8E6ED28A9872}"/>
              </a:ext>
            </a:extLst>
          </p:cNvPr>
          <p:cNvSpPr txBox="1"/>
          <p:nvPr/>
        </p:nvSpPr>
        <p:spPr>
          <a:xfrm>
            <a:off x="7525916" y="3322686"/>
            <a:ext cx="13747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Arquiva toda a Documentação</a:t>
            </a:r>
          </a:p>
          <a:p>
            <a:r>
              <a:rPr lang="pt-BR" sz="400" dirty="0">
                <a:solidFill>
                  <a:srgbClr val="667286"/>
                </a:solidFill>
              </a:rPr>
              <a:t>Gerada na Pasta T</a:t>
            </a:r>
            <a:endParaRPr lang="pt-BR" sz="500" b="1" dirty="0"/>
          </a:p>
        </p:txBody>
      </p:sp>
      <p:sp>
        <p:nvSpPr>
          <p:cNvPr id="714" name="CaixaDeTexto 713">
            <a:extLst>
              <a:ext uri="{FF2B5EF4-FFF2-40B4-BE49-F238E27FC236}">
                <a16:creationId xmlns:a16="http://schemas.microsoft.com/office/drawing/2014/main" id="{F7A17860-16F6-B44D-74A4-43D456E7BE09}"/>
              </a:ext>
            </a:extLst>
          </p:cNvPr>
          <p:cNvSpPr txBox="1"/>
          <p:nvPr/>
        </p:nvSpPr>
        <p:spPr>
          <a:xfrm>
            <a:off x="7235670" y="3311805"/>
            <a:ext cx="4216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/>
              <a:t>📁</a:t>
            </a:r>
          </a:p>
        </p:txBody>
      </p:sp>
      <p:cxnSp>
        <p:nvCxnSpPr>
          <p:cNvPr id="715" name="Conector de Seta Reta 714">
            <a:extLst>
              <a:ext uri="{FF2B5EF4-FFF2-40B4-BE49-F238E27FC236}">
                <a16:creationId xmlns:a16="http://schemas.microsoft.com/office/drawing/2014/main" id="{58F60925-D456-785B-C08C-C7E713F7CBF7}"/>
              </a:ext>
            </a:extLst>
          </p:cNvPr>
          <p:cNvCxnSpPr/>
          <p:nvPr/>
        </p:nvCxnSpPr>
        <p:spPr>
          <a:xfrm>
            <a:off x="8089426" y="2412832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Conector de Seta Reta 715">
            <a:extLst>
              <a:ext uri="{FF2B5EF4-FFF2-40B4-BE49-F238E27FC236}">
                <a16:creationId xmlns:a16="http://schemas.microsoft.com/office/drawing/2014/main" id="{5075E944-1B88-0E34-B8F7-596245ABFBF4}"/>
              </a:ext>
            </a:extLst>
          </p:cNvPr>
          <p:cNvCxnSpPr/>
          <p:nvPr/>
        </p:nvCxnSpPr>
        <p:spPr>
          <a:xfrm>
            <a:off x="8089426" y="3028839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" name="Retângulo: Cantos Arredondados 716">
            <a:extLst>
              <a:ext uri="{FF2B5EF4-FFF2-40B4-BE49-F238E27FC236}">
                <a16:creationId xmlns:a16="http://schemas.microsoft.com/office/drawing/2014/main" id="{703B28FC-B710-C429-AD07-AFB25BE1574F}"/>
              </a:ext>
            </a:extLst>
          </p:cNvPr>
          <p:cNvSpPr/>
          <p:nvPr/>
        </p:nvSpPr>
        <p:spPr>
          <a:xfrm>
            <a:off x="7217697" y="3871514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8" name="Elipse 717">
            <a:extLst>
              <a:ext uri="{FF2B5EF4-FFF2-40B4-BE49-F238E27FC236}">
                <a16:creationId xmlns:a16="http://schemas.microsoft.com/office/drawing/2014/main" id="{F504ABD4-5E51-8FBA-CADC-CE5AF9768FAD}"/>
              </a:ext>
            </a:extLst>
          </p:cNvPr>
          <p:cNvSpPr/>
          <p:nvPr/>
        </p:nvSpPr>
        <p:spPr>
          <a:xfrm>
            <a:off x="7286492" y="3948481"/>
            <a:ext cx="258029" cy="241351"/>
          </a:xfrm>
          <a:prstGeom prst="ellipse">
            <a:avLst/>
          </a:prstGeom>
          <a:solidFill>
            <a:srgbClr val="FFE8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9" name="CaixaDeTexto 718">
            <a:extLst>
              <a:ext uri="{FF2B5EF4-FFF2-40B4-BE49-F238E27FC236}">
                <a16:creationId xmlns:a16="http://schemas.microsoft.com/office/drawing/2014/main" id="{75454190-7AEB-C3D3-2AED-245567A3B542}"/>
              </a:ext>
            </a:extLst>
          </p:cNvPr>
          <p:cNvSpPr txBox="1"/>
          <p:nvPr/>
        </p:nvSpPr>
        <p:spPr>
          <a:xfrm>
            <a:off x="7506657" y="3901611"/>
            <a:ext cx="14135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Envia para Aprovação e Assinatura</a:t>
            </a:r>
          </a:p>
          <a:p>
            <a:r>
              <a:rPr lang="pt-BR" sz="500" dirty="0">
                <a:solidFill>
                  <a:srgbClr val="667286"/>
                </a:solidFill>
              </a:rPr>
              <a:t>De fechamento (geral e CC) com toda a execução do evento (Data, hora, etc.)</a:t>
            </a:r>
          </a:p>
        </p:txBody>
      </p:sp>
      <p:sp>
        <p:nvSpPr>
          <p:cNvPr id="720" name="CaixaDeTexto 719">
            <a:extLst>
              <a:ext uri="{FF2B5EF4-FFF2-40B4-BE49-F238E27FC236}">
                <a16:creationId xmlns:a16="http://schemas.microsoft.com/office/drawing/2014/main" id="{9420FCFC-1AE2-6C20-BF47-6BCA24FC209C}"/>
              </a:ext>
            </a:extLst>
          </p:cNvPr>
          <p:cNvSpPr txBox="1"/>
          <p:nvPr/>
        </p:nvSpPr>
        <p:spPr>
          <a:xfrm>
            <a:off x="7232735" y="3935341"/>
            <a:ext cx="3560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/>
              <a:t>📊</a:t>
            </a:r>
            <a:endParaRPr lang="pt-BR" sz="1100" dirty="0">
              <a:solidFill>
                <a:srgbClr val="3585F6"/>
              </a:solidFill>
            </a:endParaRPr>
          </a:p>
        </p:txBody>
      </p:sp>
      <p:cxnSp>
        <p:nvCxnSpPr>
          <p:cNvPr id="721" name="Conector de Seta Reta 720">
            <a:extLst>
              <a:ext uri="{FF2B5EF4-FFF2-40B4-BE49-F238E27FC236}">
                <a16:creationId xmlns:a16="http://schemas.microsoft.com/office/drawing/2014/main" id="{1F4E1476-9DE7-A3B6-4DAE-7AC9FBB93835}"/>
              </a:ext>
            </a:extLst>
          </p:cNvPr>
          <p:cNvCxnSpPr/>
          <p:nvPr/>
        </p:nvCxnSpPr>
        <p:spPr>
          <a:xfrm>
            <a:off x="8089426" y="3644846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2" name="Retângulo: Cantos Arredondados 721">
            <a:extLst>
              <a:ext uri="{FF2B5EF4-FFF2-40B4-BE49-F238E27FC236}">
                <a16:creationId xmlns:a16="http://schemas.microsoft.com/office/drawing/2014/main" id="{AAD59263-B9D8-B7BF-5D52-74B91829F75E}"/>
              </a:ext>
            </a:extLst>
          </p:cNvPr>
          <p:cNvSpPr/>
          <p:nvPr/>
        </p:nvSpPr>
        <p:spPr>
          <a:xfrm>
            <a:off x="5255759" y="2639500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3" name="Elipse 722">
            <a:extLst>
              <a:ext uri="{FF2B5EF4-FFF2-40B4-BE49-F238E27FC236}">
                <a16:creationId xmlns:a16="http://schemas.microsoft.com/office/drawing/2014/main" id="{D4FD3090-89FA-13F1-58CF-DD0B99762E1A}"/>
              </a:ext>
            </a:extLst>
          </p:cNvPr>
          <p:cNvSpPr/>
          <p:nvPr/>
        </p:nvSpPr>
        <p:spPr>
          <a:xfrm>
            <a:off x="5324554" y="2716467"/>
            <a:ext cx="258029" cy="24135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4" name="CaixaDeTexto 723">
            <a:extLst>
              <a:ext uri="{FF2B5EF4-FFF2-40B4-BE49-F238E27FC236}">
                <a16:creationId xmlns:a16="http://schemas.microsoft.com/office/drawing/2014/main" id="{BA9E4E58-DBBC-1498-04B8-E3313441F41B}"/>
              </a:ext>
            </a:extLst>
          </p:cNvPr>
          <p:cNvSpPr txBox="1"/>
          <p:nvPr/>
        </p:nvSpPr>
        <p:spPr>
          <a:xfrm>
            <a:off x="5544161" y="2744522"/>
            <a:ext cx="141354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Verifica Disponibilidade de Espaço</a:t>
            </a:r>
          </a:p>
        </p:txBody>
      </p:sp>
      <p:sp>
        <p:nvSpPr>
          <p:cNvPr id="725" name="CaixaDeTexto 724">
            <a:extLst>
              <a:ext uri="{FF2B5EF4-FFF2-40B4-BE49-F238E27FC236}">
                <a16:creationId xmlns:a16="http://schemas.microsoft.com/office/drawing/2014/main" id="{9B25E3F9-532A-184B-94B3-1061040B3E56}"/>
              </a:ext>
            </a:extLst>
          </p:cNvPr>
          <p:cNvSpPr txBox="1"/>
          <p:nvPr/>
        </p:nvSpPr>
        <p:spPr>
          <a:xfrm>
            <a:off x="5275553" y="2706679"/>
            <a:ext cx="3560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📅</a:t>
            </a:r>
            <a:endParaRPr lang="pt-BR" sz="1000" dirty="0">
              <a:solidFill>
                <a:srgbClr val="3585F6"/>
              </a:solidFill>
            </a:endParaRPr>
          </a:p>
        </p:txBody>
      </p:sp>
      <p:sp>
        <p:nvSpPr>
          <p:cNvPr id="726" name="Retângulo: Cantos Arredondados 725">
            <a:extLst>
              <a:ext uri="{FF2B5EF4-FFF2-40B4-BE49-F238E27FC236}">
                <a16:creationId xmlns:a16="http://schemas.microsoft.com/office/drawing/2014/main" id="{ABA3E077-D79C-53B6-2D51-ED93CC517CCD}"/>
              </a:ext>
            </a:extLst>
          </p:cNvPr>
          <p:cNvSpPr/>
          <p:nvPr/>
        </p:nvSpPr>
        <p:spPr>
          <a:xfrm>
            <a:off x="5252340" y="3255507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7" name="Elipse 726">
            <a:extLst>
              <a:ext uri="{FF2B5EF4-FFF2-40B4-BE49-F238E27FC236}">
                <a16:creationId xmlns:a16="http://schemas.microsoft.com/office/drawing/2014/main" id="{3BCE75F2-A815-8F20-0723-999DE633ED89}"/>
              </a:ext>
            </a:extLst>
          </p:cNvPr>
          <p:cNvSpPr/>
          <p:nvPr/>
        </p:nvSpPr>
        <p:spPr>
          <a:xfrm>
            <a:off x="5321135" y="3332474"/>
            <a:ext cx="258029" cy="24135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8" name="CaixaDeTexto 727">
            <a:extLst>
              <a:ext uri="{FF2B5EF4-FFF2-40B4-BE49-F238E27FC236}">
                <a16:creationId xmlns:a16="http://schemas.microsoft.com/office/drawing/2014/main" id="{A0B2E896-E71B-62CE-246D-ECA50D09783D}"/>
              </a:ext>
            </a:extLst>
          </p:cNvPr>
          <p:cNvSpPr txBox="1"/>
          <p:nvPr/>
        </p:nvSpPr>
        <p:spPr>
          <a:xfrm>
            <a:off x="5535194" y="3322686"/>
            <a:ext cx="13747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Elabora Proposta</a:t>
            </a:r>
          </a:p>
          <a:p>
            <a:r>
              <a:rPr lang="pt-BR" sz="500" dirty="0">
                <a:solidFill>
                  <a:srgbClr val="667286"/>
                </a:solidFill>
              </a:rPr>
              <a:t>Estacionamento Sob Autorização DR.</a:t>
            </a:r>
          </a:p>
        </p:txBody>
      </p:sp>
      <p:sp>
        <p:nvSpPr>
          <p:cNvPr id="729" name="CaixaDeTexto 728">
            <a:extLst>
              <a:ext uri="{FF2B5EF4-FFF2-40B4-BE49-F238E27FC236}">
                <a16:creationId xmlns:a16="http://schemas.microsoft.com/office/drawing/2014/main" id="{A9274EAC-B44C-DA92-0475-B0AFC84DC624}"/>
              </a:ext>
            </a:extLst>
          </p:cNvPr>
          <p:cNvSpPr txBox="1"/>
          <p:nvPr/>
        </p:nvSpPr>
        <p:spPr>
          <a:xfrm>
            <a:off x="5255759" y="3307043"/>
            <a:ext cx="4216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/>
              <a:t>📝</a:t>
            </a:r>
            <a:endParaRPr lang="pt-BR" sz="1200" dirty="0"/>
          </a:p>
        </p:txBody>
      </p:sp>
      <p:cxnSp>
        <p:nvCxnSpPr>
          <p:cNvPr id="730" name="Conector de Seta Reta 729">
            <a:extLst>
              <a:ext uri="{FF2B5EF4-FFF2-40B4-BE49-F238E27FC236}">
                <a16:creationId xmlns:a16="http://schemas.microsoft.com/office/drawing/2014/main" id="{55B7BCC2-0088-E746-0767-DE1F6D842A94}"/>
              </a:ext>
            </a:extLst>
          </p:cNvPr>
          <p:cNvCxnSpPr/>
          <p:nvPr/>
        </p:nvCxnSpPr>
        <p:spPr>
          <a:xfrm>
            <a:off x="6119478" y="3028839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1" name="Retângulo: Cantos Arredondados 730">
            <a:extLst>
              <a:ext uri="{FF2B5EF4-FFF2-40B4-BE49-F238E27FC236}">
                <a16:creationId xmlns:a16="http://schemas.microsoft.com/office/drawing/2014/main" id="{8E11E8DE-5744-4AAC-3090-348F60C9910B}"/>
              </a:ext>
            </a:extLst>
          </p:cNvPr>
          <p:cNvSpPr/>
          <p:nvPr/>
        </p:nvSpPr>
        <p:spPr>
          <a:xfrm>
            <a:off x="5247749" y="3871514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2" name="Elipse 731">
            <a:extLst>
              <a:ext uri="{FF2B5EF4-FFF2-40B4-BE49-F238E27FC236}">
                <a16:creationId xmlns:a16="http://schemas.microsoft.com/office/drawing/2014/main" id="{7140883A-00C3-96DF-73C1-442C0963BBBE}"/>
              </a:ext>
            </a:extLst>
          </p:cNvPr>
          <p:cNvSpPr/>
          <p:nvPr/>
        </p:nvSpPr>
        <p:spPr>
          <a:xfrm>
            <a:off x="5316544" y="3948481"/>
            <a:ext cx="258029" cy="24135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3" name="CaixaDeTexto 732">
            <a:extLst>
              <a:ext uri="{FF2B5EF4-FFF2-40B4-BE49-F238E27FC236}">
                <a16:creationId xmlns:a16="http://schemas.microsoft.com/office/drawing/2014/main" id="{008AD636-66D8-3A5C-23F3-F8A08E524570}"/>
              </a:ext>
            </a:extLst>
          </p:cNvPr>
          <p:cNvSpPr txBox="1"/>
          <p:nvPr/>
        </p:nvSpPr>
        <p:spPr>
          <a:xfrm>
            <a:off x="5521343" y="3932318"/>
            <a:ext cx="14135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Contrato de Locação</a:t>
            </a:r>
          </a:p>
          <a:p>
            <a:r>
              <a:rPr lang="pt-BR" sz="400" dirty="0">
                <a:solidFill>
                  <a:srgbClr val="667286"/>
                </a:solidFill>
              </a:rPr>
              <a:t>Para resguardo do patrimônio</a:t>
            </a:r>
          </a:p>
        </p:txBody>
      </p:sp>
      <p:sp>
        <p:nvSpPr>
          <p:cNvPr id="734" name="CaixaDeTexto 733">
            <a:extLst>
              <a:ext uri="{FF2B5EF4-FFF2-40B4-BE49-F238E27FC236}">
                <a16:creationId xmlns:a16="http://schemas.microsoft.com/office/drawing/2014/main" id="{2AE8CBC7-F7A0-B7F6-11D7-EB6E21F647D5}"/>
              </a:ext>
            </a:extLst>
          </p:cNvPr>
          <p:cNvSpPr txBox="1"/>
          <p:nvPr/>
        </p:nvSpPr>
        <p:spPr>
          <a:xfrm>
            <a:off x="5263770" y="3944044"/>
            <a:ext cx="3560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📜</a:t>
            </a:r>
            <a:endParaRPr lang="pt-BR" sz="1000" dirty="0">
              <a:solidFill>
                <a:srgbClr val="3585F6"/>
              </a:solidFill>
            </a:endParaRPr>
          </a:p>
        </p:txBody>
      </p:sp>
      <p:cxnSp>
        <p:nvCxnSpPr>
          <p:cNvPr id="735" name="Conector de Seta Reta 734">
            <a:extLst>
              <a:ext uri="{FF2B5EF4-FFF2-40B4-BE49-F238E27FC236}">
                <a16:creationId xmlns:a16="http://schemas.microsoft.com/office/drawing/2014/main" id="{2E5D933D-2530-CC3F-F69C-51BB053F31DC}"/>
              </a:ext>
            </a:extLst>
          </p:cNvPr>
          <p:cNvCxnSpPr/>
          <p:nvPr/>
        </p:nvCxnSpPr>
        <p:spPr>
          <a:xfrm>
            <a:off x="6119478" y="3644846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8" name="Retângulo: Cantos Arredondados 737">
            <a:extLst>
              <a:ext uri="{FF2B5EF4-FFF2-40B4-BE49-F238E27FC236}">
                <a16:creationId xmlns:a16="http://schemas.microsoft.com/office/drawing/2014/main" id="{F2DD1629-630A-56EC-919B-19E766BE0969}"/>
              </a:ext>
            </a:extLst>
          </p:cNvPr>
          <p:cNvSpPr/>
          <p:nvPr/>
        </p:nvSpPr>
        <p:spPr>
          <a:xfrm>
            <a:off x="7214163" y="791479"/>
            <a:ext cx="1734276" cy="3893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500" dirty="0">
              <a:solidFill>
                <a:srgbClr val="66728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9" name="Elipse 738">
            <a:extLst>
              <a:ext uri="{FF2B5EF4-FFF2-40B4-BE49-F238E27FC236}">
                <a16:creationId xmlns:a16="http://schemas.microsoft.com/office/drawing/2014/main" id="{27626170-3CFD-EB5F-F91E-AF4AB8FCF818}"/>
              </a:ext>
            </a:extLst>
          </p:cNvPr>
          <p:cNvSpPr/>
          <p:nvPr/>
        </p:nvSpPr>
        <p:spPr>
          <a:xfrm>
            <a:off x="7282958" y="868446"/>
            <a:ext cx="258029" cy="241351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0" name="CaixaDeTexto 739">
            <a:extLst>
              <a:ext uri="{FF2B5EF4-FFF2-40B4-BE49-F238E27FC236}">
                <a16:creationId xmlns:a16="http://schemas.microsoft.com/office/drawing/2014/main" id="{09890E1A-8A27-DFCF-9BE4-BE9D213E671A}"/>
              </a:ext>
            </a:extLst>
          </p:cNvPr>
          <p:cNvSpPr txBox="1"/>
          <p:nvPr/>
        </p:nvSpPr>
        <p:spPr>
          <a:xfrm>
            <a:off x="7493597" y="897900"/>
            <a:ext cx="141354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/>
              <a:t>Envia para Aprovação e Assinatura</a:t>
            </a:r>
          </a:p>
        </p:txBody>
      </p:sp>
      <p:sp>
        <p:nvSpPr>
          <p:cNvPr id="741" name="CaixaDeTexto 740">
            <a:extLst>
              <a:ext uri="{FF2B5EF4-FFF2-40B4-BE49-F238E27FC236}">
                <a16:creationId xmlns:a16="http://schemas.microsoft.com/office/drawing/2014/main" id="{427017C8-B3AC-BE8F-C0AA-9F9DC4A536DD}"/>
              </a:ext>
            </a:extLst>
          </p:cNvPr>
          <p:cNvSpPr txBox="1"/>
          <p:nvPr/>
        </p:nvSpPr>
        <p:spPr>
          <a:xfrm>
            <a:off x="7261470" y="841784"/>
            <a:ext cx="356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3585F6"/>
                </a:solidFill>
              </a:rPr>
              <a:t>✓</a:t>
            </a:r>
          </a:p>
        </p:txBody>
      </p:sp>
      <p:cxnSp>
        <p:nvCxnSpPr>
          <p:cNvPr id="742" name="Conector de Seta Reta 741">
            <a:extLst>
              <a:ext uri="{FF2B5EF4-FFF2-40B4-BE49-F238E27FC236}">
                <a16:creationId xmlns:a16="http://schemas.microsoft.com/office/drawing/2014/main" id="{2543BFF2-8573-F084-4B66-94300FDCC1EA}"/>
              </a:ext>
            </a:extLst>
          </p:cNvPr>
          <p:cNvCxnSpPr/>
          <p:nvPr/>
        </p:nvCxnSpPr>
        <p:spPr>
          <a:xfrm>
            <a:off x="8084663" y="1180818"/>
            <a:ext cx="0" cy="226668"/>
          </a:xfrm>
          <a:prstGeom prst="straightConnector1">
            <a:avLst/>
          </a:prstGeom>
          <a:ln>
            <a:solidFill>
              <a:srgbClr val="CBD5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4" name="CaixaDeTexto 743">
            <a:extLst>
              <a:ext uri="{FF2B5EF4-FFF2-40B4-BE49-F238E27FC236}">
                <a16:creationId xmlns:a16="http://schemas.microsoft.com/office/drawing/2014/main" id="{E2008171-3EC8-A6DF-27E8-EE3CF8D5FBB1}"/>
              </a:ext>
            </a:extLst>
          </p:cNvPr>
          <p:cNvSpPr txBox="1"/>
          <p:nvPr/>
        </p:nvSpPr>
        <p:spPr>
          <a:xfrm>
            <a:off x="2074165" y="4529546"/>
            <a:ext cx="6269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1000" b="1" i="0" dirty="0">
                <a:solidFill>
                  <a:srgbClr val="0F172A"/>
                </a:solidFill>
                <a:effectLst/>
                <a:latin typeface="Inter"/>
              </a:rPr>
              <a:t>Observação Importante</a:t>
            </a:r>
          </a:p>
          <a:p>
            <a:pPr algn="ctr">
              <a:buNone/>
            </a:pPr>
            <a:r>
              <a:rPr lang="pt-BR" sz="1000" b="0" i="0" dirty="0">
                <a:solidFill>
                  <a:srgbClr val="475569"/>
                </a:solidFill>
                <a:effectLst/>
                <a:latin typeface="Inter"/>
              </a:rPr>
              <a:t>Todo </a:t>
            </a:r>
            <a:r>
              <a:rPr lang="pt-BR" sz="1000" b="1" i="0" dirty="0">
                <a:solidFill>
                  <a:srgbClr val="2563EB"/>
                </a:solidFill>
                <a:effectLst/>
                <a:latin typeface="Inter"/>
              </a:rPr>
              <a:t>SEND</a:t>
            </a:r>
            <a:r>
              <a:rPr lang="pt-BR" sz="1000" b="0" i="0" dirty="0">
                <a:solidFill>
                  <a:srgbClr val="475569"/>
                </a:solidFill>
                <a:effectLst/>
                <a:latin typeface="Inter"/>
              </a:rPr>
              <a:t> para Elaboração de proposta deve ser encaminhado para gestão de </a:t>
            </a:r>
            <a:r>
              <a:rPr lang="pt-BR" sz="1000" b="1" i="0" dirty="0">
                <a:solidFill>
                  <a:srgbClr val="2563EB"/>
                </a:solidFill>
                <a:effectLst/>
                <a:latin typeface="Inter"/>
              </a:rPr>
              <a:t>Eventos</a:t>
            </a:r>
            <a:r>
              <a:rPr lang="pt-BR" sz="1000" b="0" i="0" dirty="0">
                <a:solidFill>
                  <a:srgbClr val="475569"/>
                </a:solidFill>
                <a:effectLst/>
                <a:latin typeface="Inter"/>
              </a:rPr>
              <a:t> e</a:t>
            </a:r>
            <a:r>
              <a:rPr lang="pt-BR" sz="1000" b="0" i="0" dirty="0">
                <a:solidFill>
                  <a:srgbClr val="3585F6"/>
                </a:solidFill>
                <a:effectLst/>
                <a:latin typeface="Inter"/>
              </a:rPr>
              <a:t> </a:t>
            </a:r>
            <a:r>
              <a:rPr lang="pt-BR" sz="1000" b="1" i="0" dirty="0">
                <a:solidFill>
                  <a:srgbClr val="3585F6"/>
                </a:solidFill>
                <a:effectLst/>
                <a:latin typeface="Inter"/>
              </a:rPr>
              <a:t>GNE</a:t>
            </a:r>
            <a:r>
              <a:rPr lang="pt-BR" sz="1000" b="0" i="0" dirty="0">
                <a:solidFill>
                  <a:srgbClr val="475569"/>
                </a:solidFill>
                <a:effectLst/>
                <a:latin typeface="Inter"/>
              </a:rPr>
              <a:t>.</a:t>
            </a:r>
          </a:p>
        </p:txBody>
      </p:sp>
      <p:sp>
        <p:nvSpPr>
          <p:cNvPr id="747" name="CaixaDeTexto 746">
            <a:extLst>
              <a:ext uri="{FF2B5EF4-FFF2-40B4-BE49-F238E27FC236}">
                <a16:creationId xmlns:a16="http://schemas.microsoft.com/office/drawing/2014/main" id="{5F11C667-17B3-7D7C-3AFE-4CC91C38C7A8}"/>
              </a:ext>
            </a:extLst>
          </p:cNvPr>
          <p:cNvSpPr txBox="1"/>
          <p:nvPr/>
        </p:nvSpPr>
        <p:spPr>
          <a:xfrm>
            <a:off x="2381807" y="82212"/>
            <a:ext cx="1251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1600" b="1" i="0" dirty="0">
                <a:solidFill>
                  <a:srgbClr val="0F172A"/>
                </a:solidFill>
                <a:effectLst/>
                <a:latin typeface="Inter"/>
              </a:rPr>
              <a:t>INTERNO</a:t>
            </a:r>
          </a:p>
        </p:txBody>
      </p:sp>
      <p:sp>
        <p:nvSpPr>
          <p:cNvPr id="748" name="CaixaDeTexto 747">
            <a:extLst>
              <a:ext uri="{FF2B5EF4-FFF2-40B4-BE49-F238E27FC236}">
                <a16:creationId xmlns:a16="http://schemas.microsoft.com/office/drawing/2014/main" id="{BAC95719-7394-9050-2DD7-F5824AB47A1C}"/>
              </a:ext>
            </a:extLst>
          </p:cNvPr>
          <p:cNvSpPr txBox="1"/>
          <p:nvPr/>
        </p:nvSpPr>
        <p:spPr>
          <a:xfrm>
            <a:off x="6409983" y="116223"/>
            <a:ext cx="12445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0F172A"/>
                </a:solidFill>
                <a:latin typeface="Inter"/>
              </a:rPr>
              <a:t>EX</a:t>
            </a:r>
            <a:r>
              <a:rPr lang="pt-BR" sz="1600" b="1" i="0" dirty="0">
                <a:solidFill>
                  <a:srgbClr val="0F172A"/>
                </a:solidFill>
                <a:effectLst/>
                <a:latin typeface="Inter"/>
              </a:rPr>
              <a:t>TERNO</a:t>
            </a:r>
          </a:p>
        </p:txBody>
      </p:sp>
    </p:spTree>
    <p:extLst>
      <p:ext uri="{BB962C8B-B14F-4D97-AF65-F5344CB8AC3E}">
        <p14:creationId xmlns:p14="http://schemas.microsoft.com/office/powerpoint/2010/main" val="1727130871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ue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04C226E5FE09F47AF872035D65D2C0F" ma:contentTypeVersion="4" ma:contentTypeDescription="Crie um novo documento." ma:contentTypeScope="" ma:versionID="ab20bad80689b8e509809d4dec5b437c">
  <xsd:schema xmlns:xsd="http://www.w3.org/2001/XMLSchema" xmlns:xs="http://www.w3.org/2001/XMLSchema" xmlns:p="http://schemas.microsoft.com/office/2006/metadata/properties" xmlns:ns2="c9bf5ca3-c2ed-454c-9752-3965e2c8bd86" xmlns:ns3="c9ac43f2-b31a-47d0-a046-c62207850e56" targetNamespace="http://schemas.microsoft.com/office/2006/metadata/properties" ma:root="true" ma:fieldsID="fca2c20a9db94db5b5cf68d9e5b29360" ns2:_="" ns3:_="">
    <xsd:import namespace="c9bf5ca3-c2ed-454c-9752-3965e2c8bd86"/>
    <xsd:import namespace="c9ac43f2-b31a-47d0-a046-c62207850e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bf5ca3-c2ed-454c-9752-3965e2c8bd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ac43f2-b31a-47d0-a046-c62207850e5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8AE720-08F8-4CEE-9811-453BF04CB471}">
  <ds:schemaRefs>
    <ds:schemaRef ds:uri="c9ac43f2-b31a-47d0-a046-c62207850e56"/>
    <ds:schemaRef ds:uri="http://purl.org/dc/elements/1.1/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c9bf5ca3-c2ed-454c-9752-3965e2c8bd86"/>
  </ds:schemaRefs>
</ds:datastoreItem>
</file>

<file path=customXml/itemProps2.xml><?xml version="1.0" encoding="utf-8"?>
<ds:datastoreItem xmlns:ds="http://schemas.openxmlformats.org/officeDocument/2006/customXml" ds:itemID="{A2510548-B01E-462A-9AEF-80A8CCED94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135721-FFE0-4559-8800-8224DF6E30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bf5ca3-c2ed-454c-9752-3965e2c8bd86"/>
    <ds:schemaRef ds:uri="c9ac43f2-b31a-47d0-a046-c62207850e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920</TotalTime>
  <Words>299</Words>
  <Application>Microsoft Office PowerPoint</Application>
  <PresentationFormat>Apresentação na tela (16:9)</PresentationFormat>
  <Paragraphs>76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9" baseType="lpstr">
      <vt:lpstr>consolas</vt:lpstr>
      <vt:lpstr>Spectral Light</vt:lpstr>
      <vt:lpstr>Arial</vt:lpstr>
      <vt:lpstr>Montserrat ExtraBold</vt:lpstr>
      <vt:lpstr>Inter</vt:lpstr>
      <vt:lpstr>Calibri</vt:lpstr>
      <vt:lpstr>Elegant Blue</vt:lpstr>
      <vt:lpstr>Fluxograma de Eventos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Queite Marrone Monteiro Melo</dc:creator>
  <cp:lastModifiedBy>FABIOLA GONCALVES DE OLIVEIRA</cp:lastModifiedBy>
  <cp:revision>1198</cp:revision>
  <dcterms:modified xsi:type="dcterms:W3CDTF">2025-10-01T20:42:48Z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0x010100504C226E5FE09F47AF872035D65D2C0F</vt:lpwstr>
  </property>
</Properties>
</file>